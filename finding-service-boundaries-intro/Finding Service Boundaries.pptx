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5143500" type="screen16x9"/>
  <p:notesSz cx="6858000" cy="9144000"/>
  <p:embeddedFontLst>
    <p:embeddedFont>
      <p:font typeface="Maven Pro" panose="020B0604020202020204" charset="0"/>
      <p:regular r:id="rId24"/>
      <p:bold r:id="rId25"/>
    </p:embeddedFont>
    <p:embeddedFont>
      <p:font typeface="Nunito" pitchFamily="2"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4" d="100"/>
          <a:sy n="94" d="100"/>
        </p:scale>
        <p:origin x="1138" y="298"/>
      </p:cViewPr>
      <p:guideLst>
        <p:guide orient="horz" pos="1620"/>
        <p:guide pos="2880"/>
      </p:guideLst>
    </p:cSldViewPr>
  </p:slideViewPr>
  <p:notesTextViewPr>
    <p:cViewPr>
      <p:scale>
        <a:sx n="3" d="2"/>
        <a:sy n="3" d="2"/>
      </p:scale>
      <p:origin x="0" y="-5"/>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a:t>This is FInding Service Boundaries in Distributed Systems, if you are in the wrong place feel free to find hang out participate in the discussion or find the correct place where you are supposed to be. </a:t>
            </a:r>
            <a:endParaRPr sz="16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37c08f930b6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37c08f930b6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500"/>
              <a:t>In most, if not all businesses these days, software has become essential.  I doubt you can think of many successful businesses that don’t need to keep track of customers, or accept payments. Software facilitates many of our daily activities.  The internet has become an essential utility much like electricity and water in modern society.   </a:t>
            </a:r>
            <a:endParaRPr sz="15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37c08f930b6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 name="Google Shape;287;g37c08f930b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br>
              <a:rPr lang="en" sz="1600"/>
            </a:br>
            <a:r>
              <a:rPr lang="en" sz="1600"/>
              <a:t>Who am I, I’m an engineer, a technology enthusiast, and I’ve been doing some kind of programming since I was child. I like to think the first thing I ever programmed was a VCR setting it to record a TV station at a certain time, since then I’ve graduated to designing and building complex software systems. I’ve been a professional software engineer for around 17 years, but have always had a passion for technology and computing.</a:t>
            </a:r>
            <a:endParaRPr sz="1600"/>
          </a:p>
          <a:p>
            <a:pPr marL="0" lvl="0" indent="0" algn="l" rtl="0">
              <a:spcBef>
                <a:spcPts val="0"/>
              </a:spcBef>
              <a:spcAft>
                <a:spcPts val="0"/>
              </a:spcAft>
              <a:buNone/>
            </a:pPr>
            <a:endParaRPr sz="1600"/>
          </a:p>
          <a:p>
            <a:pPr marL="0" lvl="0" indent="0" algn="l" rtl="0">
              <a:spcBef>
                <a:spcPts val="0"/>
              </a:spcBef>
              <a:spcAft>
                <a:spcPts val="0"/>
              </a:spcAft>
              <a:buNone/>
            </a:pPr>
            <a:r>
              <a:rPr lang="en" sz="1600"/>
              <a:t>Today I work for Particular software, a company staffed with dozens of engineers focused on a singular goal, to make building complex distributed systems simple. For the next few minutes we will look at one of challenging aspects of building complex software systems, Finding Service boundaries. </a:t>
            </a:r>
            <a:endParaRPr sz="16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37c2f194bee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37c2f194bee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So what should you expect?</a:t>
            </a: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37c2f194bee_0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37c2f194bee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a:t>This is a quick introduction to one aspect of Distributed Systems, service boundaries</a:t>
            </a:r>
            <a:endParaRPr sz="1600"/>
          </a:p>
          <a:p>
            <a:pPr marL="0" lvl="0" indent="0" algn="l" rtl="0">
              <a:spcBef>
                <a:spcPts val="0"/>
              </a:spcBef>
              <a:spcAft>
                <a:spcPts val="0"/>
              </a:spcAft>
              <a:buNone/>
            </a:pPr>
            <a:r>
              <a:rPr lang="en" sz="1600"/>
              <a:t>There are a few points at which I’ll ask you to share your thoughts or ideas around some of these topics as this is intended to be a discussion. </a:t>
            </a:r>
            <a:endParaRPr sz="1600"/>
          </a:p>
          <a:p>
            <a:pPr marL="0" lvl="0" indent="0" algn="l" rtl="0">
              <a:spcBef>
                <a:spcPts val="0"/>
              </a:spcBef>
              <a:spcAft>
                <a:spcPts val="0"/>
              </a:spcAft>
              <a:buNone/>
            </a:pPr>
            <a:r>
              <a:rPr lang="en" sz="1600"/>
              <a:t>We’ll cover a few terms</a:t>
            </a:r>
            <a:endParaRPr sz="1600"/>
          </a:p>
          <a:p>
            <a:pPr marL="0" lvl="0" indent="0" algn="l" rtl="0">
              <a:spcBef>
                <a:spcPts val="0"/>
              </a:spcBef>
              <a:spcAft>
                <a:spcPts val="0"/>
              </a:spcAft>
              <a:buNone/>
            </a:pPr>
            <a:r>
              <a:rPr lang="en" sz="1600"/>
              <a:t>I’ll show you a simple technique </a:t>
            </a:r>
            <a:endParaRPr sz="1600"/>
          </a:p>
          <a:p>
            <a:pPr marL="0" lvl="0" indent="0" algn="l" rtl="0">
              <a:spcBef>
                <a:spcPts val="0"/>
              </a:spcBef>
              <a:spcAft>
                <a:spcPts val="0"/>
              </a:spcAft>
              <a:buNone/>
            </a:pPr>
            <a:r>
              <a:rPr lang="en" sz="1600"/>
              <a:t>I’ll do a short demonstration of how the Particular platform can assist you in building distributed systems in .NET</a:t>
            </a:r>
            <a:endParaRPr sz="1600"/>
          </a:p>
          <a:p>
            <a:pPr marL="0" lvl="0" indent="0" algn="l" rtl="0">
              <a:spcBef>
                <a:spcPts val="0"/>
              </a:spcBef>
              <a:spcAft>
                <a:spcPts val="0"/>
              </a:spcAft>
              <a:buNone/>
            </a:pPr>
            <a:r>
              <a:rPr lang="en" sz="1600"/>
              <a:t>I’ll then share additional resources on the topic of service boundaries, and other topics</a:t>
            </a:r>
            <a:endParaRPr sz="16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7389066c6d173d6a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7389066c6d173d6a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a:t> What is a distributed system? Does anyone have a definition that they would like to share?</a:t>
            </a:r>
            <a:endParaRPr sz="1600"/>
          </a:p>
          <a:p>
            <a:pPr marL="0" lvl="0" indent="0" algn="l" rtl="0">
              <a:spcBef>
                <a:spcPts val="0"/>
              </a:spcBef>
              <a:spcAft>
                <a:spcPts val="0"/>
              </a:spcAft>
              <a:buNone/>
            </a:pPr>
            <a:endParaRPr sz="1600"/>
          </a:p>
          <a:p>
            <a:pPr marL="0" lvl="0" indent="0" algn="l" rtl="0">
              <a:spcBef>
                <a:spcPts val="0"/>
              </a:spcBef>
              <a:spcAft>
                <a:spcPts val="0"/>
              </a:spcAft>
              <a:buNone/>
            </a:pPr>
            <a:r>
              <a:rPr lang="en" sz="1600"/>
              <a:t>[Pause allow the audience to present some ideas]</a:t>
            </a:r>
            <a:endParaRPr sz="1600"/>
          </a:p>
          <a:p>
            <a:pPr marL="0" lvl="0" indent="0" algn="l" rtl="0">
              <a:spcBef>
                <a:spcPts val="0"/>
              </a:spcBef>
              <a:spcAft>
                <a:spcPts val="0"/>
              </a:spcAft>
              <a:buNone/>
            </a:pPr>
            <a:endParaRPr sz="16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g7389066c6d173d6a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1" name="Google Shape;311;g7389066c6d173d6a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a:t>This text from Wikipedia I believe sums it up pretty well. </a:t>
            </a:r>
            <a:endParaRPr sz="1600"/>
          </a:p>
          <a:p>
            <a:pPr marL="0" lvl="0" indent="0" algn="l" rtl="0">
              <a:spcBef>
                <a:spcPts val="0"/>
              </a:spcBef>
              <a:spcAft>
                <a:spcPts val="0"/>
              </a:spcAft>
              <a:buNone/>
            </a:pPr>
            <a:endParaRPr sz="1600"/>
          </a:p>
          <a:p>
            <a:pPr marL="0" lvl="0" indent="0" algn="l" rtl="0">
              <a:lnSpc>
                <a:spcPct val="115000"/>
              </a:lnSpc>
              <a:spcBef>
                <a:spcPts val="0"/>
              </a:spcBef>
              <a:spcAft>
                <a:spcPts val="0"/>
              </a:spcAft>
              <a:buNone/>
            </a:pPr>
            <a:r>
              <a:rPr lang="en" sz="1600">
                <a:solidFill>
                  <a:srgbClr val="595959"/>
                </a:solidFill>
              </a:rPr>
              <a:t>“Distributed computing is a field of computer science that studies distributed systems, defined as computer systems whose inter-communicating components are located on different networked computers.</a:t>
            </a:r>
            <a:endParaRPr sz="1600">
              <a:solidFill>
                <a:srgbClr val="595959"/>
              </a:solidFill>
            </a:endParaRPr>
          </a:p>
          <a:p>
            <a:pPr marL="0" lvl="0" indent="0" algn="l" rtl="0">
              <a:lnSpc>
                <a:spcPct val="115000"/>
              </a:lnSpc>
              <a:spcBef>
                <a:spcPts val="1200"/>
              </a:spcBef>
              <a:spcAft>
                <a:spcPts val="0"/>
              </a:spcAft>
              <a:buClr>
                <a:schemeClr val="dk1"/>
              </a:buClr>
              <a:buSzPts val="1100"/>
              <a:buFont typeface="Arial"/>
              <a:buNone/>
            </a:pPr>
            <a:r>
              <a:rPr lang="en" sz="1600">
                <a:solidFill>
                  <a:srgbClr val="595959"/>
                </a:solidFill>
              </a:rPr>
              <a:t>The components of a distributed system communicate and coordinate their actions by passing messages to one another in order to achieve a common goal.”</a:t>
            </a:r>
            <a:endParaRPr sz="1600">
              <a:solidFill>
                <a:srgbClr val="595959"/>
              </a:solidFill>
            </a:endParaRPr>
          </a:p>
          <a:p>
            <a:pPr marL="0" lvl="0" indent="0" algn="l" rtl="0">
              <a:spcBef>
                <a:spcPts val="1200"/>
              </a:spcBef>
              <a:spcAft>
                <a:spcPts val="0"/>
              </a:spcAft>
              <a:buNone/>
            </a:pPr>
            <a:endParaRPr sz="1600"/>
          </a:p>
          <a:p>
            <a:pPr marL="0" lvl="0" indent="0" algn="l" rtl="0">
              <a:spcBef>
                <a:spcPts val="0"/>
              </a:spcBef>
              <a:spcAft>
                <a:spcPts val="0"/>
              </a:spcAft>
              <a:buNone/>
            </a:pPr>
            <a:r>
              <a:rPr lang="en" sz="1600"/>
              <a:t>So we can see that distributed systems are are made up of components that reside in different network computers, and that they typically communicate with each other by passing messages to one another, in order to achieve a common goal.</a:t>
            </a:r>
            <a:endParaRPr sz="1600"/>
          </a:p>
          <a:p>
            <a:pPr marL="0" lvl="0" indent="0" algn="l" rtl="0">
              <a:spcBef>
                <a:spcPts val="0"/>
              </a:spcBef>
              <a:spcAft>
                <a:spcPts val="0"/>
              </a:spcAft>
              <a:buNone/>
            </a:pPr>
            <a:endParaRPr sz="1600"/>
          </a:p>
          <a:p>
            <a:pPr marL="0" lvl="0" indent="0" algn="l" rtl="0">
              <a:spcBef>
                <a:spcPts val="0"/>
              </a:spcBef>
              <a:spcAft>
                <a:spcPts val="0"/>
              </a:spcAft>
              <a:buNone/>
            </a:pPr>
            <a:r>
              <a:rPr lang="en" sz="1600"/>
              <a:t>Think for a moment, about why?  What is the purpose of having distributed components across various machines in a network? What benefits do you get from this?  And what are the trade offs?</a:t>
            </a:r>
            <a:endParaRPr sz="1600"/>
          </a:p>
          <a:p>
            <a:pPr marL="0" lvl="0" indent="0" algn="l" rtl="0">
              <a:spcBef>
                <a:spcPts val="0"/>
              </a:spcBef>
              <a:spcAft>
                <a:spcPts val="0"/>
              </a:spcAft>
              <a:buNone/>
            </a:pPr>
            <a:endParaRPr sz="1600"/>
          </a:p>
          <a:p>
            <a:pPr marL="0" lvl="0" indent="0" algn="l" rtl="0">
              <a:spcBef>
                <a:spcPts val="0"/>
              </a:spcBef>
              <a:spcAft>
                <a:spcPts val="0"/>
              </a:spcAft>
              <a:buNone/>
            </a:pPr>
            <a:r>
              <a:rPr lang="en" sz="1600"/>
              <a:t>[Pause for responses]</a:t>
            </a:r>
            <a:endParaRPr sz="1600"/>
          </a:p>
          <a:p>
            <a:pPr marL="0" lvl="0" indent="0" algn="l" rtl="0">
              <a:spcBef>
                <a:spcPts val="0"/>
              </a:spcBef>
              <a:spcAft>
                <a:spcPts val="0"/>
              </a:spcAft>
              <a:buNone/>
            </a:pPr>
            <a:endParaRPr sz="1600"/>
          </a:p>
          <a:p>
            <a:pPr marL="0" lvl="0" indent="0" algn="l" rtl="0">
              <a:spcBef>
                <a:spcPts val="0"/>
              </a:spcBef>
              <a:spcAft>
                <a:spcPts val="0"/>
              </a:spcAft>
              <a:buNone/>
            </a:pPr>
            <a:endParaRPr sz="16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g37c08f930b6_0_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7" name="Google Shape;317;g37c08f930b6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a:t>Some reasons to build distributed systems </a:t>
            </a:r>
            <a:endParaRPr sz="1600"/>
          </a:p>
          <a:p>
            <a:pPr marL="457200" lvl="0" indent="-330200" algn="l" rtl="0">
              <a:spcBef>
                <a:spcPts val="0"/>
              </a:spcBef>
              <a:spcAft>
                <a:spcPts val="0"/>
              </a:spcAft>
              <a:buSzPts val="1600"/>
              <a:buChar char="-"/>
            </a:pPr>
            <a:r>
              <a:rPr lang="en" sz="1600"/>
              <a:t>Partitioning, its really difficult for a single application to handle all the needs of a single business, and for a single team to have all the knowledge required to maintain a single system (like a monolith application) .</a:t>
            </a:r>
            <a:endParaRPr sz="1600"/>
          </a:p>
          <a:p>
            <a:pPr marL="457200" lvl="0" indent="-330200" algn="l" rtl="0">
              <a:spcBef>
                <a:spcPts val="0"/>
              </a:spcBef>
              <a:spcAft>
                <a:spcPts val="0"/>
              </a:spcAft>
              <a:buSzPts val="1600"/>
              <a:buChar char="-"/>
            </a:pPr>
            <a:r>
              <a:rPr lang="en" sz="1600"/>
              <a:t>Once the system is physically partitioned into separate deployable applications then those applications can be made scalable increasing reliability, and fault tolerance. </a:t>
            </a:r>
            <a:endParaRPr sz="1600"/>
          </a:p>
          <a:p>
            <a:pPr marL="457200" lvl="0" indent="-330200" algn="l" rtl="0">
              <a:spcBef>
                <a:spcPts val="0"/>
              </a:spcBef>
              <a:spcAft>
                <a:spcPts val="0"/>
              </a:spcAft>
              <a:buSzPts val="1600"/>
              <a:buChar char="-"/>
            </a:pPr>
            <a:r>
              <a:rPr lang="en" sz="1600"/>
              <a:t>Furthermore it becomes possible to consider the security requirements of each application and or component independent of the entire system</a:t>
            </a:r>
            <a:endParaRPr sz="1600"/>
          </a:p>
          <a:p>
            <a:pPr marL="457200" lvl="0" indent="-330200" algn="l" rtl="0">
              <a:spcBef>
                <a:spcPts val="0"/>
              </a:spcBef>
              <a:spcAft>
                <a:spcPts val="0"/>
              </a:spcAft>
              <a:buSzPts val="1600"/>
              <a:buChar char="-"/>
            </a:pPr>
            <a:r>
              <a:rPr lang="en" sz="1600"/>
              <a:t>Consistency becomes a smaller weight concern as well as only the information within a specific application or service has the requirement of maintaining consistency</a:t>
            </a:r>
            <a:endParaRPr sz="16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7389066c6d173d6a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3" name="Google Shape;323;g7389066c6d173d6a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a:t>Now that we have some idea about what a Distributed System is let me say that Distributed systems are not just made up of components on different machines, but there is a higher level logical separation. That separation is known as a service. </a:t>
            </a:r>
            <a:endParaRPr sz="1600"/>
          </a:p>
          <a:p>
            <a:pPr marL="0" lvl="0" indent="0" algn="l" rtl="0">
              <a:spcBef>
                <a:spcPts val="0"/>
              </a:spcBef>
              <a:spcAft>
                <a:spcPts val="0"/>
              </a:spcAft>
              <a:buNone/>
            </a:pPr>
            <a:endParaRPr sz="1600"/>
          </a:p>
          <a:p>
            <a:pPr marL="0" lvl="0" indent="0" algn="l" rtl="0">
              <a:spcBef>
                <a:spcPts val="0"/>
              </a:spcBef>
              <a:spcAft>
                <a:spcPts val="0"/>
              </a:spcAft>
              <a:buNone/>
            </a:pPr>
            <a:endParaRPr sz="16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g7389066c6d173d6a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8" name="Google Shape;328;g7389066c6d173d6a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a:t>A service is the technical authority for a given business capability. Ok so what does that mean.  This means that each service is autonomous and encapsulates the functionality and data related to facilitating the required actions of a specific business capability. </a:t>
            </a:r>
            <a:endParaRPr sz="1600"/>
          </a:p>
          <a:p>
            <a:pPr marL="0" lvl="0" indent="0" algn="l" rtl="0">
              <a:spcBef>
                <a:spcPts val="0"/>
              </a:spcBef>
              <a:spcAft>
                <a:spcPts val="0"/>
              </a:spcAft>
              <a:buNone/>
            </a:pPr>
            <a:endParaRPr sz="1600"/>
          </a:p>
          <a:p>
            <a:pPr marL="0" lvl="0" indent="0" algn="l" rtl="0">
              <a:spcBef>
                <a:spcPts val="0"/>
              </a:spcBef>
              <a:spcAft>
                <a:spcPts val="0"/>
              </a:spcAft>
              <a:buNone/>
            </a:pPr>
            <a:r>
              <a:rPr lang="en" sz="1600"/>
              <a:t>I’ll show a few examples of this in a minute.</a:t>
            </a:r>
            <a:endParaRPr sz="1600"/>
          </a:p>
          <a:p>
            <a:pPr marL="0" lvl="0" indent="0" algn="l" rtl="0">
              <a:spcBef>
                <a:spcPts val="0"/>
              </a:spcBef>
              <a:spcAft>
                <a:spcPts val="0"/>
              </a:spcAft>
              <a:buNone/>
            </a:pPr>
            <a:endParaRPr sz="1600"/>
          </a:p>
          <a:p>
            <a:pPr marL="0" lvl="0" indent="0" algn="l" rtl="0">
              <a:spcBef>
                <a:spcPts val="0"/>
              </a:spcBef>
              <a:spcAft>
                <a:spcPts val="0"/>
              </a:spcAft>
              <a:buNone/>
            </a:pPr>
            <a:r>
              <a:rPr lang="en" sz="1600"/>
              <a:t>Also pay attention to that second line,  “All data and rules reside with the service” </a:t>
            </a:r>
            <a:endParaRPr sz="1600"/>
          </a:p>
          <a:p>
            <a:pPr marL="0" lvl="0" indent="0" algn="l" rtl="0">
              <a:spcBef>
                <a:spcPts val="0"/>
              </a:spcBef>
              <a:spcAft>
                <a:spcPts val="0"/>
              </a:spcAft>
              <a:buNone/>
            </a:pPr>
            <a:endParaRPr sz="1600"/>
          </a:p>
          <a:p>
            <a:pPr marL="0" lvl="0" indent="0" algn="l" rtl="0">
              <a:spcBef>
                <a:spcPts val="0"/>
              </a:spcBef>
              <a:spcAft>
                <a:spcPts val="0"/>
              </a:spcAft>
              <a:buNone/>
            </a:pPr>
            <a:endParaRPr sz="16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7389066c6d173d6a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4" name="Google Shape;334;g7389066c6d173d6a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a:t>Now that we have some idea of what a service is, what do you think is a service boundary?</a:t>
            </a:r>
            <a:endParaRPr sz="1600"/>
          </a:p>
          <a:p>
            <a:pPr marL="0" lvl="0" indent="0" algn="l" rtl="0">
              <a:spcBef>
                <a:spcPts val="0"/>
              </a:spcBef>
              <a:spcAft>
                <a:spcPts val="0"/>
              </a:spcAft>
              <a:buNone/>
            </a:pPr>
            <a:endParaRPr sz="1600"/>
          </a:p>
          <a:p>
            <a:pPr marL="0" lvl="0" indent="0" algn="l" rtl="0">
              <a:spcBef>
                <a:spcPts val="0"/>
              </a:spcBef>
              <a:spcAft>
                <a:spcPts val="0"/>
              </a:spcAft>
              <a:buNone/>
            </a:pPr>
            <a:r>
              <a:rPr lang="en" sz="1600"/>
              <a:t>[Pause for response] </a:t>
            </a:r>
            <a:endParaRPr sz="16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7389066c6d173d6a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 name="Google Shape;339;g7389066c6d173d6a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600">
                <a:solidFill>
                  <a:schemeClr val="dk1"/>
                </a:solidFill>
              </a:rPr>
              <a:t>The scope and limits of a service, separating the functionality and data are contained within the service from that which is external to it.</a:t>
            </a:r>
            <a:endParaRPr sz="16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sz="1600">
                <a:solidFill>
                  <a:schemeClr val="dk1"/>
                </a:solidFill>
              </a:rPr>
              <a:t>Each service will contain its own independent data and functionality. This information is not shared with other services. </a:t>
            </a:r>
            <a:endParaRPr sz="1600">
              <a:solidFill>
                <a:schemeClr val="dk1"/>
              </a:solidFill>
            </a:endParaRPr>
          </a:p>
          <a:p>
            <a:pPr marL="0" lvl="0" indent="0" algn="l" rtl="0">
              <a:spcBef>
                <a:spcPts val="120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g37c08f930b6_0_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5" name="Google Shape;345;g37c08f930b6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a:t>Ok, all the terms have been somewhat identified, so how do we actually find the service boundaries. </a:t>
            </a:r>
            <a:endParaRPr sz="1600"/>
          </a:p>
          <a:p>
            <a:pPr marL="0" lvl="0" indent="0" algn="l" rtl="0">
              <a:spcBef>
                <a:spcPts val="0"/>
              </a:spcBef>
              <a:spcAft>
                <a:spcPts val="0"/>
              </a:spcAft>
              <a:buNone/>
            </a:pPr>
            <a:endParaRPr sz="1600"/>
          </a:p>
          <a:p>
            <a:pPr marL="0" lvl="0" indent="0" algn="l" rtl="0">
              <a:spcBef>
                <a:spcPts val="0"/>
              </a:spcBef>
              <a:spcAft>
                <a:spcPts val="0"/>
              </a:spcAft>
              <a:buNone/>
            </a:pPr>
            <a:r>
              <a:rPr lang="en" sz="1600"/>
              <a:t>This is probably easiest explained through a familiar example. Retail</a:t>
            </a:r>
            <a:endParaRPr sz="16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g7389066c6d173d6a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0" name="Google Shape;350;g7389066c6d173d6a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dirty="0"/>
              <a:t>I’m sure that everyone has shopped on Amazon before, this image is from a few days ago, and I believe it does a pretty good job of illustrating the concepts that we’ve discussed so far, so let's see if we can find the boundaries together.</a:t>
            </a:r>
            <a:endParaRPr sz="1600" dirty="0"/>
          </a:p>
          <a:p>
            <a:pPr marL="0" lvl="0" indent="0" algn="l" rtl="0">
              <a:spcBef>
                <a:spcPts val="0"/>
              </a:spcBef>
              <a:spcAft>
                <a:spcPts val="0"/>
              </a:spcAft>
              <a:buNone/>
            </a:pPr>
            <a:r>
              <a:rPr lang="en" sz="1600" dirty="0"/>
              <a:t>Let’s first start by looking at the data. </a:t>
            </a:r>
            <a:endParaRPr sz="1600" dirty="0"/>
          </a:p>
          <a:p>
            <a:pPr marL="0" lvl="0" indent="0" algn="l" rtl="0">
              <a:spcBef>
                <a:spcPts val="0"/>
              </a:spcBef>
              <a:spcAft>
                <a:spcPts val="0"/>
              </a:spcAft>
              <a:buNone/>
            </a:pPr>
            <a:endParaRPr sz="1600" dirty="0"/>
          </a:p>
          <a:p>
            <a:pPr marL="0" lvl="0" indent="0" algn="l" rtl="0">
              <a:spcBef>
                <a:spcPts val="0"/>
              </a:spcBef>
              <a:spcAft>
                <a:spcPts val="0"/>
              </a:spcAft>
              <a:buNone/>
            </a:pPr>
            <a:r>
              <a:rPr lang="en" sz="1600" dirty="0"/>
              <a:t>What types of data do you see on the screen? Are there any pieces of data that you feel like would belong in the same service? </a:t>
            </a:r>
            <a:endParaRPr sz="1600" dirty="0"/>
          </a:p>
          <a:p>
            <a:pPr marL="0" lvl="0" indent="0" algn="l" rtl="0">
              <a:spcBef>
                <a:spcPts val="0"/>
              </a:spcBef>
              <a:spcAft>
                <a:spcPts val="0"/>
              </a:spcAft>
              <a:buNone/>
            </a:pPr>
            <a:endParaRPr sz="1600" dirty="0"/>
          </a:p>
          <a:p>
            <a:pPr marL="0" lvl="0" indent="0" algn="l" rtl="0">
              <a:spcBef>
                <a:spcPts val="0"/>
              </a:spcBef>
              <a:spcAft>
                <a:spcPts val="0"/>
              </a:spcAft>
              <a:buNone/>
            </a:pPr>
            <a:r>
              <a:rPr lang="en" sz="1600" dirty="0"/>
              <a:t>[PAUSE for Discussion]</a:t>
            </a:r>
          </a:p>
          <a:p>
            <a:pPr marL="0" lvl="0" indent="0" algn="l" rtl="0">
              <a:spcBef>
                <a:spcPts val="0"/>
              </a:spcBef>
              <a:spcAft>
                <a:spcPts val="0"/>
              </a:spcAft>
              <a:buNone/>
            </a:pPr>
            <a:endParaRPr lang="en" sz="1600" dirty="0"/>
          </a:p>
          <a:p>
            <a:pPr marL="0" lvl="0" indent="0" algn="l" rtl="0">
              <a:spcBef>
                <a:spcPts val="0"/>
              </a:spcBef>
              <a:spcAft>
                <a:spcPts val="0"/>
              </a:spcAft>
              <a:buNone/>
            </a:pPr>
            <a:r>
              <a:rPr lang="en-US" sz="1600" dirty="0"/>
              <a:t>[Click to show next segment]</a:t>
            </a:r>
          </a:p>
          <a:p>
            <a:pPr marL="0" lvl="0" indent="0" algn="l" rtl="0">
              <a:spcBef>
                <a:spcPts val="0"/>
              </a:spcBef>
              <a:spcAft>
                <a:spcPts val="0"/>
              </a:spcAft>
              <a:buNone/>
            </a:pPr>
            <a:endParaRPr lang="en-US" sz="1600" dirty="0"/>
          </a:p>
          <a:p>
            <a:pPr marL="0" lvl="0" indent="0" algn="l" rtl="0">
              <a:spcBef>
                <a:spcPts val="0"/>
              </a:spcBef>
              <a:spcAft>
                <a:spcPts val="0"/>
              </a:spcAft>
              <a:buNone/>
            </a:pPr>
            <a:r>
              <a:rPr lang="en-US" sz="1600" dirty="0"/>
              <a:t>Let’s talk services</a:t>
            </a:r>
          </a:p>
          <a:p>
            <a:pPr marL="0" lvl="0" indent="0" algn="l" rtl="0">
              <a:spcBef>
                <a:spcPts val="0"/>
              </a:spcBef>
              <a:spcAft>
                <a:spcPts val="0"/>
              </a:spcAft>
              <a:buNone/>
            </a:pPr>
            <a:endParaRPr lang="en-US" sz="1600" dirty="0"/>
          </a:p>
          <a:p>
            <a:pPr marL="0" lvl="0" indent="0" algn="l" rtl="0">
              <a:spcBef>
                <a:spcPts val="0"/>
              </a:spcBef>
              <a:spcAft>
                <a:spcPts val="0"/>
              </a:spcAft>
              <a:buNone/>
            </a:pPr>
            <a:r>
              <a:rPr lang="en-US" sz="1600" dirty="0"/>
              <a:t>[Click to show next segments]</a:t>
            </a:r>
            <a:endParaRPr sz="1600" dirty="0"/>
          </a:p>
          <a:p>
            <a:pPr marL="0" lvl="0" indent="0" algn="l" rtl="0">
              <a:spcBef>
                <a:spcPts val="0"/>
              </a:spcBef>
              <a:spcAft>
                <a:spcPts val="0"/>
              </a:spcAft>
              <a:buNone/>
            </a:pPr>
            <a:endParaRPr sz="1600" dirty="0"/>
          </a:p>
          <a:p>
            <a:pPr marL="0" lvl="0" indent="0" algn="l" rtl="0">
              <a:spcBef>
                <a:spcPts val="0"/>
              </a:spcBef>
              <a:spcAft>
                <a:spcPts val="0"/>
              </a:spcAft>
              <a:buNone/>
            </a:pPr>
            <a:r>
              <a:rPr lang="en" sz="1600" dirty="0"/>
              <a:t>How many people think there should only be one service involved in rendering this page? </a:t>
            </a:r>
            <a:endParaRPr sz="1600" dirty="0"/>
          </a:p>
          <a:p>
            <a:pPr marL="0" lvl="0" indent="0" algn="l" rtl="0">
              <a:spcBef>
                <a:spcPts val="0"/>
              </a:spcBef>
              <a:spcAft>
                <a:spcPts val="0"/>
              </a:spcAft>
              <a:buNone/>
            </a:pPr>
            <a:endParaRPr sz="1600" dirty="0"/>
          </a:p>
          <a:p>
            <a:pPr marL="0" lvl="0" indent="0" algn="l" rtl="0">
              <a:spcBef>
                <a:spcPts val="0"/>
              </a:spcBef>
              <a:spcAft>
                <a:spcPts val="0"/>
              </a:spcAft>
              <a:buNone/>
            </a:pPr>
            <a:r>
              <a:rPr lang="en" sz="1600" dirty="0"/>
              <a:t>(Please raise your hands)</a:t>
            </a:r>
            <a:endParaRPr sz="1600" dirty="0"/>
          </a:p>
          <a:p>
            <a:pPr marL="0" lvl="0" indent="0" algn="l" rtl="0">
              <a:spcBef>
                <a:spcPts val="0"/>
              </a:spcBef>
              <a:spcAft>
                <a:spcPts val="0"/>
              </a:spcAft>
              <a:buNone/>
            </a:pPr>
            <a:endParaRPr sz="1600" dirty="0"/>
          </a:p>
          <a:p>
            <a:pPr marL="0" lvl="0" indent="0" algn="l" rtl="0">
              <a:spcBef>
                <a:spcPts val="0"/>
              </a:spcBef>
              <a:spcAft>
                <a:spcPts val="0"/>
              </a:spcAft>
              <a:buNone/>
            </a:pPr>
            <a:r>
              <a:rPr lang="en" sz="1600" dirty="0"/>
              <a:t>How many people think that there are multiple services involved in rendering this page?</a:t>
            </a:r>
            <a:endParaRPr sz="1600" dirty="0"/>
          </a:p>
          <a:p>
            <a:pPr marL="0" lvl="0" indent="0" algn="l" rtl="0">
              <a:spcBef>
                <a:spcPts val="0"/>
              </a:spcBef>
              <a:spcAft>
                <a:spcPts val="0"/>
              </a:spcAft>
              <a:buNone/>
            </a:pPr>
            <a:endParaRPr sz="1600" dirty="0"/>
          </a:p>
          <a:p>
            <a:pPr marL="0" lvl="0" indent="0" algn="l" rtl="0">
              <a:spcBef>
                <a:spcPts val="0"/>
              </a:spcBef>
              <a:spcAft>
                <a:spcPts val="0"/>
              </a:spcAft>
              <a:buNone/>
            </a:pPr>
            <a:r>
              <a:rPr lang="en" sz="1600" dirty="0"/>
              <a:t>(Please Raise your hands)</a:t>
            </a:r>
            <a:endParaRPr sz="1600" dirty="0"/>
          </a:p>
          <a:p>
            <a:pPr marL="0" lvl="0" indent="0" algn="l" rtl="0">
              <a:spcBef>
                <a:spcPts val="0"/>
              </a:spcBef>
              <a:spcAft>
                <a:spcPts val="0"/>
              </a:spcAft>
              <a:buNone/>
            </a:pPr>
            <a:endParaRPr sz="1600" dirty="0"/>
          </a:p>
          <a:p>
            <a:pPr marL="0" lvl="0" indent="0" algn="l" rtl="0">
              <a:spcBef>
                <a:spcPts val="0"/>
              </a:spcBef>
              <a:spcAft>
                <a:spcPts val="0"/>
              </a:spcAft>
              <a:buNone/>
            </a:pPr>
            <a:r>
              <a:rPr lang="en" sz="1600" dirty="0"/>
              <a:t>If you thought one, why?</a:t>
            </a:r>
            <a:endParaRPr sz="1600" dirty="0"/>
          </a:p>
          <a:p>
            <a:pPr marL="0" lvl="0" indent="0" algn="l" rtl="0">
              <a:spcBef>
                <a:spcPts val="0"/>
              </a:spcBef>
              <a:spcAft>
                <a:spcPts val="0"/>
              </a:spcAft>
              <a:buNone/>
            </a:pPr>
            <a:endParaRPr sz="1600" dirty="0"/>
          </a:p>
          <a:p>
            <a:pPr marL="0" lvl="0" indent="0" algn="l" rtl="0">
              <a:spcBef>
                <a:spcPts val="0"/>
              </a:spcBef>
              <a:spcAft>
                <a:spcPts val="0"/>
              </a:spcAft>
              <a:buNone/>
            </a:pPr>
            <a:r>
              <a:rPr lang="en" sz="1600" dirty="0"/>
              <a:t>[PAUSE]</a:t>
            </a:r>
            <a:endParaRPr sz="1600" dirty="0"/>
          </a:p>
          <a:p>
            <a:pPr marL="0" lvl="0" indent="0" algn="l" rtl="0">
              <a:spcBef>
                <a:spcPts val="0"/>
              </a:spcBef>
              <a:spcAft>
                <a:spcPts val="0"/>
              </a:spcAft>
              <a:buNone/>
            </a:pPr>
            <a:endParaRPr sz="1600" dirty="0"/>
          </a:p>
          <a:p>
            <a:pPr marL="0" lvl="0" indent="0" algn="l" rtl="0">
              <a:spcBef>
                <a:spcPts val="0"/>
              </a:spcBef>
              <a:spcAft>
                <a:spcPts val="0"/>
              </a:spcAft>
              <a:buNone/>
            </a:pPr>
            <a:r>
              <a:rPr lang="en" sz="1600" dirty="0"/>
              <a:t>If you thought more than one why?</a:t>
            </a:r>
            <a:endParaRPr sz="1600" dirty="0"/>
          </a:p>
          <a:p>
            <a:pPr marL="0" lvl="0" indent="0" algn="l" rtl="0">
              <a:spcBef>
                <a:spcPts val="0"/>
              </a:spcBef>
              <a:spcAft>
                <a:spcPts val="0"/>
              </a:spcAft>
              <a:buNone/>
            </a:pPr>
            <a:endParaRPr sz="1600" dirty="0"/>
          </a:p>
          <a:p>
            <a:pPr marL="0" lvl="0" indent="0" algn="l" rtl="0">
              <a:spcBef>
                <a:spcPts val="0"/>
              </a:spcBef>
              <a:spcAft>
                <a:spcPts val="0"/>
              </a:spcAft>
              <a:buNone/>
            </a:pPr>
            <a:r>
              <a:rPr lang="en" sz="1600" dirty="0"/>
              <a:t>[PAUSE]</a:t>
            </a:r>
            <a:endParaRPr sz="1600" dirty="0"/>
          </a:p>
          <a:p>
            <a:pPr marL="0" lvl="0" indent="0" algn="l" rtl="0">
              <a:spcBef>
                <a:spcPts val="0"/>
              </a:spcBef>
              <a:spcAft>
                <a:spcPts val="0"/>
              </a:spcAft>
              <a:buNone/>
            </a:pPr>
            <a:endParaRPr sz="1600" dirty="0"/>
          </a:p>
          <a:p>
            <a:pPr marL="0" lvl="0" indent="0" algn="l" rtl="0">
              <a:spcBef>
                <a:spcPts val="0"/>
              </a:spcBef>
              <a:spcAft>
                <a:spcPts val="0"/>
              </a:spcAft>
              <a:buNone/>
            </a:pPr>
            <a:endParaRPr sz="1600" dirty="0"/>
          </a:p>
          <a:p>
            <a:pPr marL="0" lvl="0" indent="0" algn="l" rtl="0">
              <a:spcBef>
                <a:spcPts val="0"/>
              </a:spcBef>
              <a:spcAft>
                <a:spcPts val="0"/>
              </a:spcAft>
              <a:buNone/>
            </a:pPr>
            <a:endParaRPr sz="1600" dirty="0"/>
          </a:p>
          <a:p>
            <a:pPr marL="0" lvl="0" indent="0" algn="l" rtl="0">
              <a:spcBef>
                <a:spcPts val="0"/>
              </a:spcBef>
              <a:spcAft>
                <a:spcPts val="0"/>
              </a:spcAft>
              <a:buNone/>
            </a:pPr>
            <a:endParaRPr sz="1600"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37c2f194be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37c2f194be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dirty="0"/>
              <a:t>We previously said that a Service contains its own data and rules.  One really simple way to verify if two pieces of data belong within the same service or not is if there is a rule (typically in the form of a requirement) that can be expressed that affects the validity of one or the other.</a:t>
            </a:r>
            <a:endParaRPr sz="1600" dirty="0"/>
          </a:p>
          <a:p>
            <a:pPr marL="0" lvl="0" indent="0" algn="l" rtl="0">
              <a:spcBef>
                <a:spcPts val="0"/>
              </a:spcBef>
              <a:spcAft>
                <a:spcPts val="0"/>
              </a:spcAft>
              <a:buNone/>
            </a:pPr>
            <a:endParaRPr sz="1600" dirty="0"/>
          </a:p>
          <a:p>
            <a:pPr marL="0" lvl="0" indent="0" algn="l" rtl="0">
              <a:spcBef>
                <a:spcPts val="0"/>
              </a:spcBef>
              <a:spcAft>
                <a:spcPts val="0"/>
              </a:spcAft>
              <a:buNone/>
            </a:pPr>
            <a:r>
              <a:rPr lang="en" sz="1600" dirty="0"/>
              <a:t>For example, is there such a rule that the name of the product affects the price of the product.  A silly example might be “All products whose name starts with D must not be priced higher than $10”.  That is the type of question that you can ask a domain expert to try to find the boundaries or rules of the system.  Another counter example of this might be does the shipping address of the order affect the price charged to deliver the product? Does it affect the estimated date of delivery? What other factors may play a role in the shipping fee? Are they a loyalty member?  </a:t>
            </a:r>
            <a:endParaRPr sz="1600" dirty="0"/>
          </a:p>
          <a:p>
            <a:pPr marL="0" lvl="0" indent="0" algn="l" rtl="0">
              <a:spcBef>
                <a:spcPts val="0"/>
              </a:spcBef>
              <a:spcAft>
                <a:spcPts val="0"/>
              </a:spcAft>
              <a:buNone/>
            </a:pPr>
            <a:r>
              <a:rPr lang="en" sz="1600" dirty="0"/>
              <a:t>Another example, is there a requirement that products with low review scores are not eligible for express delivery? (this would be something that you’d need to discuss with the stakeholders) </a:t>
            </a:r>
            <a:endParaRPr sz="1600" dirty="0"/>
          </a:p>
          <a:p>
            <a:pPr marL="0" lvl="0" indent="0" algn="l" rtl="0">
              <a:spcBef>
                <a:spcPts val="0"/>
              </a:spcBef>
              <a:spcAft>
                <a:spcPts val="0"/>
              </a:spcAft>
              <a:buNone/>
            </a:pPr>
            <a:endParaRPr sz="1600" dirty="0"/>
          </a:p>
          <a:p>
            <a:pPr marL="0" lvl="0" indent="0" algn="l" rtl="0">
              <a:spcBef>
                <a:spcPts val="0"/>
              </a:spcBef>
              <a:spcAft>
                <a:spcPts val="0"/>
              </a:spcAft>
              <a:buNone/>
            </a:pPr>
            <a:r>
              <a:rPr lang="en" sz="1600" dirty="0"/>
              <a:t>These rules help to ensure data consistency, and that rules are used to enforce data integrity, rather than some arbitrary imagined rules decided by developers.   When you have clear separation of data in their representative services then consistency across a distributed system becomes much more simple to deal with as only the limited number of rules are required to be enforced. </a:t>
            </a:r>
            <a:endParaRPr sz="1600" dirty="0"/>
          </a:p>
          <a:p>
            <a:pPr marL="0" lvl="0" indent="0" algn="l" rtl="0">
              <a:spcBef>
                <a:spcPts val="0"/>
              </a:spcBef>
              <a:spcAft>
                <a:spcPts val="0"/>
              </a:spcAft>
              <a:buNone/>
            </a:pPr>
            <a:endParaRPr sz="1600" dirty="0"/>
          </a:p>
          <a:p>
            <a:pPr marL="0" lvl="0" indent="0" algn="l" rtl="0">
              <a:spcBef>
                <a:spcPts val="0"/>
              </a:spcBef>
              <a:spcAft>
                <a:spcPts val="0"/>
              </a:spcAft>
              <a:buNone/>
            </a:pPr>
            <a:r>
              <a:rPr lang="en" sz="1600" dirty="0"/>
              <a:t>The technique used here is known as anti-requirements and is often a simple way to validate if the data that you are attempting to keep consistent really needs to be.  </a:t>
            </a: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g37c2f194bee_0_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4" name="Google Shape;364;g37c2f194bee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a:t>Ok, I want to show you a quick demo of our product, highlighting the simplicity of communicating between services</a:t>
            </a:r>
            <a:endParaRPr sz="16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g37c2f194bee_0_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9" name="Google Shape;369;g37c2f194bee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a:t>Before we get to the demo, I wanted to highlight this important part of the text I mentioned at the beginning of this presentation. </a:t>
            </a:r>
            <a:endParaRPr sz="1600"/>
          </a:p>
          <a:p>
            <a:pPr marL="0" lvl="0" indent="0" algn="l" rtl="0">
              <a:spcBef>
                <a:spcPts val="0"/>
              </a:spcBef>
              <a:spcAft>
                <a:spcPts val="0"/>
              </a:spcAft>
              <a:buNone/>
            </a:pPr>
            <a:endParaRPr sz="1600"/>
          </a:p>
          <a:p>
            <a:pPr marL="0" lvl="0" indent="0" algn="l" rtl="0">
              <a:spcBef>
                <a:spcPts val="0"/>
              </a:spcBef>
              <a:spcAft>
                <a:spcPts val="0"/>
              </a:spcAft>
              <a:buNone/>
            </a:pPr>
            <a:r>
              <a:rPr lang="en" sz="1600"/>
              <a:t>“</a:t>
            </a:r>
            <a:r>
              <a:rPr lang="en" sz="2100" b="1" i="1">
                <a:solidFill>
                  <a:srgbClr val="595959"/>
                </a:solidFill>
              </a:rPr>
              <a:t>The components of a distributed system communicate and coordinate their actions by passing messages to one another in order to achieve a common goal.”</a:t>
            </a:r>
            <a:endParaRPr sz="2100" b="1" i="1">
              <a:solidFill>
                <a:srgbClr val="595959"/>
              </a:solidFill>
            </a:endParaRPr>
          </a:p>
          <a:p>
            <a:pPr marL="0" lvl="0" indent="0" algn="l" rtl="0">
              <a:spcBef>
                <a:spcPts val="0"/>
              </a:spcBef>
              <a:spcAft>
                <a:spcPts val="0"/>
              </a:spcAft>
              <a:buNone/>
            </a:pPr>
            <a:endParaRPr sz="2100" b="1" i="1">
              <a:solidFill>
                <a:srgbClr val="595959"/>
              </a:solidFill>
            </a:endParaRPr>
          </a:p>
          <a:p>
            <a:pPr marL="0" lvl="0" indent="0" algn="l" rtl="0">
              <a:spcBef>
                <a:spcPts val="0"/>
              </a:spcBef>
              <a:spcAft>
                <a:spcPts val="0"/>
              </a:spcAft>
              <a:buNone/>
            </a:pPr>
            <a:r>
              <a:rPr lang="en" sz="2100" b="1" i="1">
                <a:solidFill>
                  <a:srgbClr val="595959"/>
                </a:solidFill>
              </a:rPr>
              <a:t>(You will see this in the demo)</a:t>
            </a:r>
            <a:endParaRPr sz="2100" b="1" i="1">
              <a:solidFill>
                <a:srgbClr val="595959"/>
              </a:solidFill>
            </a:endParaRPr>
          </a:p>
          <a:p>
            <a:pPr marL="0" lvl="0" indent="0" algn="l" rtl="0">
              <a:spcBef>
                <a:spcPts val="0"/>
              </a:spcBef>
              <a:spcAft>
                <a:spcPts val="0"/>
              </a:spcAft>
              <a:buNone/>
            </a:pPr>
            <a:endParaRPr sz="1600"/>
          </a:p>
          <a:p>
            <a:pPr marL="0" lvl="0" indent="0" algn="l" rtl="0">
              <a:spcBef>
                <a:spcPts val="0"/>
              </a:spcBef>
              <a:spcAft>
                <a:spcPts val="0"/>
              </a:spcAft>
              <a:buNone/>
            </a:pPr>
            <a:endParaRPr sz="1600"/>
          </a:p>
          <a:p>
            <a:pPr marL="0" lvl="0" indent="0" algn="l" rtl="0">
              <a:spcBef>
                <a:spcPts val="0"/>
              </a:spcBef>
              <a:spcAft>
                <a:spcPts val="0"/>
              </a:spcAft>
              <a:buNone/>
            </a:pPr>
            <a:endParaRPr sz="16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g37c73902eac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5" name="Google Shape;375;g37c73902eac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6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g37c73902eac_2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 name="Google Shape;380;g37c73902eac_2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demo is really quick, but I’ll explain what’s happened with a few short slides</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g37c73902eac_2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7" name="Google Shape;387;g37c73902eac_2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g37c2f194bee_0_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3" name="Google Shape;393;g37c2f194bee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3"/>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7343003"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7801210"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7801210"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8259418" y="3757688"/>
                <a:ext cx="316800" cy="1384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8259418"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8259418"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8717625" y="3757688"/>
                <a:ext cx="316800" cy="1384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8717625"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8717625" y="3409675"/>
                <a:ext cx="316800" cy="1732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8717625"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rot="5400000">
                <a:off x="6725724" y="2701260"/>
                <a:ext cx="1208100" cy="1208100"/>
              </a:xfrm>
              <a:prstGeom prst="pie">
                <a:avLst>
                  <a:gd name="adj1" fmla="val 8244818"/>
                  <a:gd name="adj2" fmla="val 16246175"/>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2"/>
            <p:cNvSpPr/>
            <p:nvPr/>
          </p:nvSpPr>
          <p:spPr>
            <a:xfrm>
              <a:off x="8460975" y="1817775"/>
              <a:ext cx="396600" cy="396600"/>
            </a:xfrm>
            <a:prstGeom prst="pie">
              <a:avLst>
                <a:gd name="adj1" fmla="val 1937684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rot="-8647347">
                <a:off x="7831319" y="285616"/>
                <a:ext cx="388018" cy="388018"/>
              </a:xfrm>
              <a:prstGeom prst="pie">
                <a:avLst>
                  <a:gd name="adj1" fmla="val 19376841"/>
                  <a:gd name="adj2" fmla="val 12313574"/>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5399795" y="360281"/>
              <a:ext cx="2577000" cy="2577000"/>
            </a:xfrm>
            <a:prstGeom prst="pie">
              <a:avLst>
                <a:gd name="adj1" fmla="val 8801158"/>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5399795" y="356358"/>
              <a:ext cx="2577000" cy="2577000"/>
            </a:xfrm>
            <a:prstGeom prst="pie">
              <a:avLst>
                <a:gd name="adj1" fmla="val 1255410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rot="-9830444">
              <a:off x="6469759" y="3480727"/>
              <a:ext cx="320148" cy="320148"/>
            </a:xfrm>
            <a:prstGeom prst="pie">
              <a:avLst>
                <a:gd name="adj1" fmla="val 1937684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 name="Google Shape;46;p2"/>
          <p:cNvSpPr txBox="1">
            <a:spLocks noGrp="1"/>
          </p:cNvSpPr>
          <p:nvPr>
            <p:ph type="ctrTitle"/>
          </p:nvPr>
        </p:nvSpPr>
        <p:spPr>
          <a:xfrm>
            <a:off x="824000" y="1613813"/>
            <a:ext cx="4255500" cy="18729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47" name="Google Shape;47;p2"/>
          <p:cNvSpPr txBox="1">
            <a:spLocks noGrp="1"/>
          </p:cNvSpPr>
          <p:nvPr>
            <p:ph type="subTitle" idx="1"/>
          </p:nvPr>
        </p:nvSpPr>
        <p:spPr>
          <a:xfrm>
            <a:off x="824000" y="3596300"/>
            <a:ext cx="4255500" cy="6954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48" name="Google Shape;48;p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3"/>
              <p:cNvSpPr/>
              <p:nvPr/>
            </p:nvSpPr>
            <p:spPr>
              <a:xfrm rot="10800000">
                <a:off x="1063183"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3"/>
              <p:cNvSpPr/>
              <p:nvPr/>
            </p:nvSpPr>
            <p:spPr>
              <a:xfrm rot="10800000">
                <a:off x="604976" y="3430"/>
                <a:ext cx="316800" cy="1036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
              <p:cNvSpPr/>
              <p:nvPr/>
            </p:nvSpPr>
            <p:spPr>
              <a:xfrm rot="10800000">
                <a:off x="604976"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3"/>
              <p:cNvSpPr/>
              <p:nvPr/>
            </p:nvSpPr>
            <p:spPr>
              <a:xfrm rot="10800000">
                <a:off x="146769" y="3441"/>
                <a:ext cx="316800" cy="1384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3"/>
              <p:cNvSpPr/>
              <p:nvPr/>
            </p:nvSpPr>
            <p:spPr>
              <a:xfrm rot="10800000">
                <a:off x="146769" y="3430"/>
                <a:ext cx="316800" cy="1036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3"/>
              <p:cNvSpPr/>
              <p:nvPr/>
            </p:nvSpPr>
            <p:spPr>
              <a:xfrm rot="10800000">
                <a:off x="146769"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a:off x="6775084"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3"/>
              <p:cNvSpPr/>
              <p:nvPr/>
            </p:nvSpPr>
            <p:spPr>
              <a:xfrm>
                <a:off x="7367299"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3"/>
              <p:cNvSpPr/>
              <p:nvPr/>
            </p:nvSpPr>
            <p:spPr>
              <a:xfrm>
                <a:off x="7367299"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3"/>
              <p:cNvSpPr/>
              <p:nvPr/>
            </p:nvSpPr>
            <p:spPr>
              <a:xfrm>
                <a:off x="7959516" y="3354008"/>
                <a:ext cx="409500" cy="178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3"/>
              <p:cNvSpPr/>
              <p:nvPr/>
            </p:nvSpPr>
            <p:spPr>
              <a:xfrm>
                <a:off x="7959516"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3"/>
              <p:cNvSpPr/>
              <p:nvPr/>
            </p:nvSpPr>
            <p:spPr>
              <a:xfrm>
                <a:off x="7959516"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3"/>
              <p:cNvSpPr/>
              <p:nvPr/>
            </p:nvSpPr>
            <p:spPr>
              <a:xfrm>
                <a:off x="8551731" y="3354008"/>
                <a:ext cx="409500" cy="178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3"/>
              <p:cNvSpPr/>
              <p:nvPr/>
            </p:nvSpPr>
            <p:spPr>
              <a:xfrm>
                <a:off x="8551731"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3"/>
              <p:cNvSpPr/>
              <p:nvPr/>
            </p:nvSpPr>
            <p:spPr>
              <a:xfrm>
                <a:off x="8551731" y="2904008"/>
                <a:ext cx="409500" cy="22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3"/>
              <p:cNvSpPr/>
              <p:nvPr/>
            </p:nvSpPr>
            <p:spPr>
              <a:xfrm>
                <a:off x="8551731"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2" name="Google Shape;82;p3"/>
          <p:cNvSpPr txBox="1">
            <a:spLocks noGrp="1"/>
          </p:cNvSpPr>
          <p:nvPr>
            <p:ph type="title"/>
          </p:nvPr>
        </p:nvSpPr>
        <p:spPr>
          <a:xfrm>
            <a:off x="824000" y="1613825"/>
            <a:ext cx="5857800" cy="18729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83" name="Google Shape;83;p3"/>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4"/>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 name="Google Shape;88;p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89" name="Google Shape;89;p4"/>
          <p:cNvSpPr txBox="1">
            <a:spLocks noGrp="1"/>
          </p:cNvSpPr>
          <p:nvPr>
            <p:ph type="body" idx="1"/>
          </p:nvPr>
        </p:nvSpPr>
        <p:spPr>
          <a:xfrm>
            <a:off x="1303800" y="1990050"/>
            <a:ext cx="7030500" cy="2541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0" name="Google Shape;90;p4"/>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5"/>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 name="Google Shape;95;p5"/>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96" name="Google Shape;96;p5"/>
          <p:cNvSpPr txBox="1">
            <a:spLocks noGrp="1"/>
          </p:cNvSpPr>
          <p:nvPr>
            <p:ph type="body" idx="1"/>
          </p:nvPr>
        </p:nvSpPr>
        <p:spPr>
          <a:xfrm>
            <a:off x="1303800" y="1990050"/>
            <a:ext cx="3430500" cy="2541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7" name="Google Shape;97;p5"/>
          <p:cNvSpPr txBox="1">
            <a:spLocks noGrp="1"/>
          </p:cNvSpPr>
          <p:nvPr>
            <p:ph type="body" idx="2"/>
          </p:nvPr>
        </p:nvSpPr>
        <p:spPr>
          <a:xfrm>
            <a:off x="4903650" y="1990050"/>
            <a:ext cx="3430500" cy="2541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8" name="Google Shape;98;p5"/>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6"/>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 name="Google Shape;103;p6"/>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04" name="Google Shape;104;p6"/>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7"/>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9" name="Google Shape;109;p7"/>
          <p:cNvSpPr txBox="1">
            <a:spLocks noGrp="1"/>
          </p:cNvSpPr>
          <p:nvPr>
            <p:ph type="title"/>
          </p:nvPr>
        </p:nvSpPr>
        <p:spPr>
          <a:xfrm>
            <a:off x="1303800" y="598575"/>
            <a:ext cx="3312000" cy="15900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10" name="Google Shape;110;p7"/>
          <p:cNvSpPr txBox="1">
            <a:spLocks noGrp="1"/>
          </p:cNvSpPr>
          <p:nvPr>
            <p:ph type="body" idx="1"/>
          </p:nvPr>
        </p:nvSpPr>
        <p:spPr>
          <a:xfrm>
            <a:off x="1303800" y="2309675"/>
            <a:ext cx="3312000" cy="22218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11" name="Google Shape;111;p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dk1"/>
        </a:solidFill>
        <a:effectLst/>
      </p:bgPr>
    </p:bg>
    <p:spTree>
      <p:nvGrpSpPr>
        <p:cNvPr id="1"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8"/>
              <p:cNvSpPr/>
              <p:nvPr/>
            </p:nvSpPr>
            <p:spPr>
              <a:xfrm rot="-8648551">
                <a:off x="7594313" y="527721"/>
                <a:ext cx="937226" cy="937226"/>
              </a:xfrm>
              <a:prstGeom prst="pie">
                <a:avLst>
                  <a:gd name="adj1" fmla="val 19376841"/>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8"/>
              <p:cNvSpPr/>
              <p:nvPr/>
            </p:nvSpPr>
            <p:spPr>
              <a:xfrm rot="2150259">
                <a:off x="8408218" y="2008610"/>
                <a:ext cx="393004" cy="393004"/>
              </a:xfrm>
              <a:prstGeom prst="pie">
                <a:avLst>
                  <a:gd name="adj1" fmla="val 5699893"/>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8"/>
              <p:cNvSpPr/>
              <p:nvPr/>
            </p:nvSpPr>
            <p:spPr>
              <a:xfrm rot="2150259">
                <a:off x="6868362" y="196705"/>
                <a:ext cx="393004" cy="393004"/>
              </a:xfrm>
              <a:prstGeom prst="pie">
                <a:avLst>
                  <a:gd name="adj1" fmla="val 5699893"/>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25" name="Google Shape;125;p8"/>
          <p:cNvSpPr txBox="1">
            <a:spLocks noGrp="1"/>
          </p:cNvSpPr>
          <p:nvPr>
            <p:ph type="title"/>
          </p:nvPr>
        </p:nvSpPr>
        <p:spPr>
          <a:xfrm>
            <a:off x="824000" y="763600"/>
            <a:ext cx="5857800" cy="35733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126" name="Google Shape;126;p8"/>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9"/>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1" name="Google Shape;131;p9"/>
          <p:cNvSpPr txBox="1">
            <a:spLocks noGrp="1"/>
          </p:cNvSpPr>
          <p:nvPr>
            <p:ph type="title"/>
          </p:nvPr>
        </p:nvSpPr>
        <p:spPr>
          <a:xfrm>
            <a:off x="1303800" y="598575"/>
            <a:ext cx="3430500" cy="19902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32" name="Google Shape;132;p9"/>
          <p:cNvSpPr txBox="1">
            <a:spLocks noGrp="1"/>
          </p:cNvSpPr>
          <p:nvPr>
            <p:ph type="subTitle" idx="1"/>
          </p:nvPr>
        </p:nvSpPr>
        <p:spPr>
          <a:xfrm>
            <a:off x="1303800" y="2743203"/>
            <a:ext cx="3430500" cy="7260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33" name="Google Shape;133;p9"/>
          <p:cNvSpPr txBox="1">
            <a:spLocks noGrp="1"/>
          </p:cNvSpPr>
          <p:nvPr>
            <p:ph type="body" idx="2"/>
          </p:nvPr>
        </p:nvSpPr>
        <p:spPr>
          <a:xfrm>
            <a:off x="4903700" y="661000"/>
            <a:ext cx="3430500" cy="38706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34" name="Google Shape;134;p9"/>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0"/>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9" name="Google Shape;139;p10"/>
          <p:cNvSpPr txBox="1">
            <a:spLocks noGrp="1"/>
          </p:cNvSpPr>
          <p:nvPr>
            <p:ph type="body" idx="1"/>
          </p:nvPr>
        </p:nvSpPr>
        <p:spPr>
          <a:xfrm>
            <a:off x="1303800" y="4138975"/>
            <a:ext cx="5843100" cy="534900"/>
          </a:xfrm>
          <a:prstGeom prst="rect">
            <a:avLst/>
          </a:prstGeom>
        </p:spPr>
        <p:txBody>
          <a:bodyPr spcFirstLastPara="1" wrap="square" lIns="91425" tIns="91425" rIns="91425" bIns="91425" anchor="t" anchorCtr="0">
            <a:normAutofit/>
          </a:bodyPr>
          <a:lstStyle>
            <a:lvl1pPr marL="457200" lvl="0" indent="-228600">
              <a:lnSpc>
                <a:spcPct val="100000"/>
              </a:lnSpc>
              <a:spcBef>
                <a:spcPts val="0"/>
              </a:spcBef>
              <a:spcAft>
                <a:spcPts val="0"/>
              </a:spcAft>
              <a:buSzPts val="1300"/>
              <a:buNone/>
              <a:defRPr/>
            </a:lvl1pPr>
          </a:lstStyle>
          <a:p>
            <a:endParaRPr/>
          </a:p>
        </p:txBody>
      </p:sp>
      <p:sp>
        <p:nvSpPr>
          <p:cNvPr id="140" name="Google Shape;140;p10"/>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3"/>
        </a:solidFill>
        <a:effectLst/>
      </p:bgPr>
    </p:bg>
    <p:spTree>
      <p:nvGrpSpPr>
        <p:cNvPr id="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1"/>
              <p:cNvSpPr/>
              <p:nvPr/>
            </p:nvSpPr>
            <p:spPr>
              <a:xfrm flipH="1">
                <a:off x="2688737" y="4091380"/>
                <a:ext cx="2319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1"/>
              <p:cNvSpPr/>
              <p:nvPr/>
            </p:nvSpPr>
            <p:spPr>
              <a:xfrm flipH="1">
                <a:off x="1856753"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1"/>
              <p:cNvSpPr/>
              <p:nvPr/>
            </p:nvSpPr>
            <p:spPr>
              <a:xfrm flipH="1">
                <a:off x="185675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1"/>
              <p:cNvSpPr/>
              <p:nvPr/>
            </p:nvSpPr>
            <p:spPr>
              <a:xfrm flipH="1">
                <a:off x="1856753"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11"/>
              <p:cNvSpPr/>
              <p:nvPr/>
            </p:nvSpPr>
            <p:spPr>
              <a:xfrm flipH="1">
                <a:off x="185675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11"/>
              <p:cNvSpPr/>
              <p:nvPr/>
            </p:nvSpPr>
            <p:spPr>
              <a:xfrm flipH="1">
                <a:off x="2228107"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1"/>
              <p:cNvSpPr/>
              <p:nvPr/>
            </p:nvSpPr>
            <p:spPr>
              <a:xfrm flipH="1">
                <a:off x="2228107"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1"/>
              <p:cNvSpPr/>
              <p:nvPr/>
            </p:nvSpPr>
            <p:spPr>
              <a:xfrm flipH="1">
                <a:off x="2228107"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1"/>
              <p:cNvSpPr/>
              <p:nvPr/>
            </p:nvSpPr>
            <p:spPr>
              <a:xfrm flipH="1">
                <a:off x="2599462"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1"/>
              <p:cNvSpPr/>
              <p:nvPr/>
            </p:nvSpPr>
            <p:spPr>
              <a:xfrm flipH="1">
                <a:off x="2599462"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1"/>
              <p:cNvSpPr/>
              <p:nvPr/>
            </p:nvSpPr>
            <p:spPr>
              <a:xfrm flipH="1">
                <a:off x="3342171"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1"/>
              <p:cNvSpPr/>
              <p:nvPr/>
            </p:nvSpPr>
            <p:spPr>
              <a:xfrm flipH="1">
                <a:off x="3342171"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1"/>
              <p:cNvSpPr/>
              <p:nvPr/>
            </p:nvSpPr>
            <p:spPr>
              <a:xfrm flipH="1">
                <a:off x="3342171"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1"/>
              <p:cNvSpPr/>
              <p:nvPr/>
            </p:nvSpPr>
            <p:spPr>
              <a:xfrm flipH="1">
                <a:off x="3342171"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1"/>
              <p:cNvSpPr/>
              <p:nvPr/>
            </p:nvSpPr>
            <p:spPr>
              <a:xfrm flipH="1">
                <a:off x="3713525"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1"/>
              <p:cNvSpPr/>
              <p:nvPr/>
            </p:nvSpPr>
            <p:spPr>
              <a:xfrm flipH="1">
                <a:off x="3713525"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11"/>
              <p:cNvSpPr/>
              <p:nvPr/>
            </p:nvSpPr>
            <p:spPr>
              <a:xfrm flipH="1">
                <a:off x="3713525"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1"/>
              <p:cNvSpPr/>
              <p:nvPr/>
            </p:nvSpPr>
            <p:spPr>
              <a:xfrm flipH="1">
                <a:off x="148539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1"/>
              <p:cNvSpPr/>
              <p:nvPr/>
            </p:nvSpPr>
            <p:spPr>
              <a:xfrm flipH="1">
                <a:off x="148539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1"/>
              <p:cNvSpPr/>
              <p:nvPr/>
            </p:nvSpPr>
            <p:spPr>
              <a:xfrm flipH="1">
                <a:off x="148539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1"/>
              <p:cNvSpPr/>
              <p:nvPr/>
            </p:nvSpPr>
            <p:spPr>
              <a:xfrm flipH="1">
                <a:off x="4084879"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1"/>
              <p:cNvSpPr/>
              <p:nvPr/>
            </p:nvSpPr>
            <p:spPr>
              <a:xfrm flipH="1">
                <a:off x="4084879"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1"/>
              <p:cNvSpPr/>
              <p:nvPr/>
            </p:nvSpPr>
            <p:spPr>
              <a:xfrm flipH="1">
                <a:off x="2970816"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1"/>
              <p:cNvSpPr/>
              <p:nvPr/>
            </p:nvSpPr>
            <p:spPr>
              <a:xfrm flipH="1">
                <a:off x="2970816"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1"/>
              <p:cNvSpPr/>
              <p:nvPr/>
            </p:nvSpPr>
            <p:spPr>
              <a:xfrm flipH="1">
                <a:off x="2970816"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1"/>
              <p:cNvSpPr/>
              <p:nvPr/>
            </p:nvSpPr>
            <p:spPr>
              <a:xfrm flipH="1">
                <a:off x="4456234"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1"/>
              <p:cNvSpPr/>
              <p:nvPr/>
            </p:nvSpPr>
            <p:spPr>
              <a:xfrm flipH="1">
                <a:off x="4456234"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1"/>
              <p:cNvSpPr/>
              <p:nvPr/>
            </p:nvSpPr>
            <p:spPr>
              <a:xfrm flipH="1">
                <a:off x="4456234"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11"/>
              <p:cNvSpPr/>
              <p:nvPr/>
            </p:nvSpPr>
            <p:spPr>
              <a:xfrm flipH="1">
                <a:off x="482758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1"/>
              <p:cNvSpPr/>
              <p:nvPr/>
            </p:nvSpPr>
            <p:spPr>
              <a:xfrm flipH="1">
                <a:off x="482758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11"/>
              <p:cNvSpPr/>
              <p:nvPr/>
            </p:nvSpPr>
            <p:spPr>
              <a:xfrm flipH="1">
                <a:off x="4827588"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11"/>
              <p:cNvSpPr/>
              <p:nvPr/>
            </p:nvSpPr>
            <p:spPr>
              <a:xfrm flipH="1">
                <a:off x="482758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11"/>
              <p:cNvSpPr/>
              <p:nvPr/>
            </p:nvSpPr>
            <p:spPr>
              <a:xfrm flipH="1">
                <a:off x="5198943"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11"/>
              <p:cNvSpPr/>
              <p:nvPr/>
            </p:nvSpPr>
            <p:spPr>
              <a:xfrm flipH="1">
                <a:off x="519894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11"/>
              <p:cNvSpPr/>
              <p:nvPr/>
            </p:nvSpPr>
            <p:spPr>
              <a:xfrm flipH="1">
                <a:off x="519894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11"/>
              <p:cNvSpPr/>
              <p:nvPr/>
            </p:nvSpPr>
            <p:spPr>
              <a:xfrm flipH="1">
                <a:off x="5570297"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1"/>
              <p:cNvSpPr/>
              <p:nvPr/>
            </p:nvSpPr>
            <p:spPr>
              <a:xfrm flipH="1">
                <a:off x="5570297"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11"/>
              <p:cNvSpPr/>
              <p:nvPr/>
            </p:nvSpPr>
            <p:spPr>
              <a:xfrm flipH="1">
                <a:off x="5941652"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11"/>
              <p:cNvSpPr/>
              <p:nvPr/>
            </p:nvSpPr>
            <p:spPr>
              <a:xfrm flipH="1">
                <a:off x="5941652"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1"/>
              <p:cNvSpPr/>
              <p:nvPr/>
            </p:nvSpPr>
            <p:spPr>
              <a:xfrm flipH="1">
                <a:off x="5941652"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1"/>
              <p:cNvSpPr/>
              <p:nvPr/>
            </p:nvSpPr>
            <p:spPr>
              <a:xfrm flipH="1">
                <a:off x="6313006"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1"/>
              <p:cNvSpPr/>
              <p:nvPr/>
            </p:nvSpPr>
            <p:spPr>
              <a:xfrm flipH="1">
                <a:off x="6313006"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1"/>
              <p:cNvSpPr/>
              <p:nvPr/>
            </p:nvSpPr>
            <p:spPr>
              <a:xfrm flipH="1">
                <a:off x="6313006"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1"/>
              <p:cNvSpPr/>
              <p:nvPr/>
            </p:nvSpPr>
            <p:spPr>
              <a:xfrm flipH="1">
                <a:off x="6313006"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1"/>
              <p:cNvSpPr/>
              <p:nvPr/>
            </p:nvSpPr>
            <p:spPr>
              <a:xfrm flipH="1">
                <a:off x="6684361"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1"/>
              <p:cNvSpPr/>
              <p:nvPr/>
            </p:nvSpPr>
            <p:spPr>
              <a:xfrm flipH="1">
                <a:off x="6684361"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1"/>
              <p:cNvSpPr/>
              <p:nvPr/>
            </p:nvSpPr>
            <p:spPr>
              <a:xfrm flipH="1">
                <a:off x="6684361"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1"/>
              <p:cNvSpPr/>
              <p:nvPr/>
            </p:nvSpPr>
            <p:spPr>
              <a:xfrm flipH="1">
                <a:off x="7055715"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1"/>
              <p:cNvSpPr/>
              <p:nvPr/>
            </p:nvSpPr>
            <p:spPr>
              <a:xfrm flipH="1">
                <a:off x="7055715"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1"/>
              <p:cNvSpPr/>
              <p:nvPr/>
            </p:nvSpPr>
            <p:spPr>
              <a:xfrm flipH="1">
                <a:off x="7798424"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1"/>
              <p:cNvSpPr/>
              <p:nvPr/>
            </p:nvSpPr>
            <p:spPr>
              <a:xfrm flipH="1">
                <a:off x="7798424"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1"/>
              <p:cNvSpPr/>
              <p:nvPr/>
            </p:nvSpPr>
            <p:spPr>
              <a:xfrm flipH="1">
                <a:off x="7798424"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1"/>
              <p:cNvSpPr/>
              <p:nvPr/>
            </p:nvSpPr>
            <p:spPr>
              <a:xfrm flipH="1">
                <a:off x="7798424"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1"/>
              <p:cNvSpPr/>
              <p:nvPr/>
            </p:nvSpPr>
            <p:spPr>
              <a:xfrm flipH="1">
                <a:off x="8169779"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1"/>
              <p:cNvSpPr/>
              <p:nvPr/>
            </p:nvSpPr>
            <p:spPr>
              <a:xfrm flipH="1">
                <a:off x="8169779"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1"/>
              <p:cNvSpPr/>
              <p:nvPr/>
            </p:nvSpPr>
            <p:spPr>
              <a:xfrm flipH="1">
                <a:off x="8169779"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1"/>
              <p:cNvSpPr/>
              <p:nvPr/>
            </p:nvSpPr>
            <p:spPr>
              <a:xfrm flipH="1">
                <a:off x="7427070"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1"/>
              <p:cNvSpPr/>
              <p:nvPr/>
            </p:nvSpPr>
            <p:spPr>
              <a:xfrm flipH="1">
                <a:off x="7427070"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1"/>
              <p:cNvSpPr/>
              <p:nvPr/>
            </p:nvSpPr>
            <p:spPr>
              <a:xfrm flipH="1">
                <a:off x="7427070"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1"/>
              <p:cNvSpPr/>
              <p:nvPr/>
            </p:nvSpPr>
            <p:spPr>
              <a:xfrm flipH="1">
                <a:off x="854113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1"/>
              <p:cNvSpPr/>
              <p:nvPr/>
            </p:nvSpPr>
            <p:spPr>
              <a:xfrm flipH="1">
                <a:off x="854113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1"/>
              <p:cNvSpPr/>
              <p:nvPr/>
            </p:nvSpPr>
            <p:spPr>
              <a:xfrm flipH="1">
                <a:off x="891248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1"/>
              <p:cNvSpPr/>
              <p:nvPr/>
            </p:nvSpPr>
            <p:spPr>
              <a:xfrm flipH="1">
                <a:off x="891248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1"/>
              <p:cNvSpPr/>
              <p:nvPr/>
            </p:nvSpPr>
            <p:spPr>
              <a:xfrm flipH="1">
                <a:off x="891248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68" name="Google Shape;268;p11"/>
          <p:cNvSpPr txBox="1">
            <a:spLocks noGrp="1"/>
          </p:cNvSpPr>
          <p:nvPr>
            <p:ph type="title" hasCustomPrompt="1"/>
          </p:nvPr>
        </p:nvSpPr>
        <p:spPr>
          <a:xfrm>
            <a:off x="1388625" y="772725"/>
            <a:ext cx="6366900" cy="18633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a:spLocks noGrp="1"/>
          </p:cNvSpPr>
          <p:nvPr>
            <p:ph type="body" idx="1"/>
          </p:nvPr>
        </p:nvSpPr>
        <p:spPr>
          <a:xfrm>
            <a:off x="1388625" y="2712300"/>
            <a:ext cx="6366900" cy="1111200"/>
          </a:xfrm>
          <a:prstGeom prst="rect">
            <a:avLst/>
          </a:prstGeom>
        </p:spPr>
        <p:txBody>
          <a:bodyPr spcFirstLastPara="1" wrap="square" lIns="91425" tIns="91425" rIns="91425" bIns="91425" anchor="t" anchorCtr="0">
            <a:normAutofit/>
          </a:bodyPr>
          <a:lstStyle>
            <a:lvl1pPr marL="457200" lvl="0" indent="-311150" algn="ctr">
              <a:spcBef>
                <a:spcPts val="0"/>
              </a:spcBef>
              <a:spcAft>
                <a:spcPts val="0"/>
              </a:spcAft>
              <a:buClr>
                <a:schemeClr val="lt1"/>
              </a:buClr>
              <a:buSzPts val="1300"/>
              <a:buChar char="●"/>
              <a:defRPr>
                <a:solidFill>
                  <a:schemeClr val="lt1"/>
                </a:solidFill>
              </a:defRPr>
            </a:lvl1pPr>
            <a:lvl2pPr marL="914400" lvl="1" indent="-298450" algn="ctr">
              <a:spcBef>
                <a:spcPts val="0"/>
              </a:spcBef>
              <a:spcAft>
                <a:spcPts val="0"/>
              </a:spcAft>
              <a:buClr>
                <a:schemeClr val="lt1"/>
              </a:buClr>
              <a:buSzPts val="1100"/>
              <a:buChar char="○"/>
              <a:defRPr>
                <a:solidFill>
                  <a:schemeClr val="lt1"/>
                </a:solidFill>
              </a:defRPr>
            </a:lvl2pPr>
            <a:lvl3pPr marL="1371600" lvl="2" indent="-298450" algn="ctr">
              <a:spcBef>
                <a:spcPts val="0"/>
              </a:spcBef>
              <a:spcAft>
                <a:spcPts val="0"/>
              </a:spcAft>
              <a:buClr>
                <a:schemeClr val="lt1"/>
              </a:buClr>
              <a:buSzPts val="1100"/>
              <a:buChar char="■"/>
              <a:defRPr>
                <a:solidFill>
                  <a:schemeClr val="lt1"/>
                </a:solidFill>
              </a:defRPr>
            </a:lvl3pPr>
            <a:lvl4pPr marL="1828800" lvl="3" indent="-298450" algn="ctr">
              <a:spcBef>
                <a:spcPts val="0"/>
              </a:spcBef>
              <a:spcAft>
                <a:spcPts val="0"/>
              </a:spcAft>
              <a:buClr>
                <a:schemeClr val="lt1"/>
              </a:buClr>
              <a:buSzPts val="1100"/>
              <a:buChar char="●"/>
              <a:defRPr>
                <a:solidFill>
                  <a:schemeClr val="lt1"/>
                </a:solidFill>
              </a:defRPr>
            </a:lvl4pPr>
            <a:lvl5pPr marL="2286000" lvl="4" indent="-298450" algn="ctr">
              <a:spcBef>
                <a:spcPts val="0"/>
              </a:spcBef>
              <a:spcAft>
                <a:spcPts val="0"/>
              </a:spcAft>
              <a:buClr>
                <a:schemeClr val="lt1"/>
              </a:buClr>
              <a:buSzPts val="1100"/>
              <a:buChar char="○"/>
              <a:defRPr>
                <a:solidFill>
                  <a:schemeClr val="lt1"/>
                </a:solidFill>
              </a:defRPr>
            </a:lvl5pPr>
            <a:lvl6pPr marL="2743200" lvl="5" indent="-298450" algn="ctr">
              <a:spcBef>
                <a:spcPts val="0"/>
              </a:spcBef>
              <a:spcAft>
                <a:spcPts val="0"/>
              </a:spcAft>
              <a:buClr>
                <a:schemeClr val="lt1"/>
              </a:buClr>
              <a:buSzPts val="1100"/>
              <a:buChar char="■"/>
              <a:defRPr>
                <a:solidFill>
                  <a:schemeClr val="lt1"/>
                </a:solidFill>
              </a:defRPr>
            </a:lvl6pPr>
            <a:lvl7pPr marL="3200400" lvl="6" indent="-298450" algn="ctr">
              <a:spcBef>
                <a:spcPts val="0"/>
              </a:spcBef>
              <a:spcAft>
                <a:spcPts val="0"/>
              </a:spcAft>
              <a:buClr>
                <a:schemeClr val="lt1"/>
              </a:buClr>
              <a:buSzPts val="1100"/>
              <a:buChar char="●"/>
              <a:defRPr>
                <a:solidFill>
                  <a:schemeClr val="lt1"/>
                </a:solidFill>
              </a:defRPr>
            </a:lvl7pPr>
            <a:lvl8pPr marL="3657600" lvl="7" indent="-298450" algn="ctr">
              <a:spcBef>
                <a:spcPts val="0"/>
              </a:spcBef>
              <a:spcAft>
                <a:spcPts val="0"/>
              </a:spcAft>
              <a:buClr>
                <a:schemeClr val="lt1"/>
              </a:buClr>
              <a:buSzPts val="1100"/>
              <a:buChar char="○"/>
              <a:defRPr>
                <a:solidFill>
                  <a:schemeClr val="lt1"/>
                </a:solidFill>
              </a:defRPr>
            </a:lvl8pPr>
            <a:lvl9pPr marL="4114800" lvl="8" indent="-298450" algn="ctr">
              <a:spcBef>
                <a:spcPts val="0"/>
              </a:spcBef>
              <a:spcAft>
                <a:spcPts val="0"/>
              </a:spcAft>
              <a:buClr>
                <a:schemeClr val="lt1"/>
              </a:buClr>
              <a:buSzPts val="1100"/>
              <a:buChar char="■"/>
              <a:defRPr>
                <a:solidFill>
                  <a:schemeClr val="lt1"/>
                </a:solidFill>
              </a:defRPr>
            </a:lvl9pPr>
          </a:lstStyle>
          <a:p>
            <a:endParaRPr/>
          </a:p>
        </p:txBody>
      </p:sp>
      <p:sp>
        <p:nvSpPr>
          <p:cNvPr id="270" name="Google Shape;270;p11"/>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1"/>
        <p:cNvGrpSpPr/>
        <p:nvPr/>
      </p:nvGrpSpPr>
      <p:grpSpPr>
        <a:xfrm>
          <a:off x="0" y="0"/>
          <a:ext cx="0" cy="0"/>
          <a:chOff x="0" y="0"/>
          <a:chExt cx="0" cy="0"/>
        </a:xfrm>
      </p:grpSpPr>
      <p:sp>
        <p:nvSpPr>
          <p:cNvPr id="272" name="Google Shape;272;p1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omentu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marL="914400" lvl="1"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marL="1371600" lvl="2"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marL="1828800" lvl="3"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marL="2286000" lvl="4"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marL="2743200" lvl="5"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marL="3200400" lvl="6"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marL="3657600" lvl="7"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marL="4114800" lvl="8"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a:endParaRPr/>
          </a:p>
        </p:txBody>
      </p:sp>
      <p:sp>
        <p:nvSpPr>
          <p:cNvPr id="8" name="Google Shape;8;p1"/>
          <p:cNvSpPr txBox="1">
            <a:spLocks noGrp="1"/>
          </p:cNvSpPr>
          <p:nvPr>
            <p:ph type="sldNum" idx="12"/>
          </p:nvPr>
        </p:nvSpPr>
        <p:spPr>
          <a:xfrm>
            <a:off x="8451046" y="4736976"/>
            <a:ext cx="548700" cy="393600"/>
          </a:xfrm>
          <a:prstGeom prst="rect">
            <a:avLst/>
          </a:prstGeom>
          <a:noFill/>
          <a:ln>
            <a:noFill/>
          </a:ln>
        </p:spPr>
        <p:txBody>
          <a:bodyPr spcFirstLastPara="1" wrap="square" lIns="91425" tIns="91425" rIns="91425" bIns="91425" anchor="ctr" anchorCtr="0">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13"/>
          <p:cNvSpPr txBox="1">
            <a:spLocks noGrp="1"/>
          </p:cNvSpPr>
          <p:nvPr>
            <p:ph type="ctrTitle"/>
          </p:nvPr>
        </p:nvSpPr>
        <p:spPr>
          <a:xfrm>
            <a:off x="824000" y="1613813"/>
            <a:ext cx="4255500" cy="18729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a:t>Finding Service Boundaries </a:t>
            </a:r>
            <a:endParaRPr/>
          </a:p>
        </p:txBody>
      </p:sp>
      <p:sp>
        <p:nvSpPr>
          <p:cNvPr id="278" name="Google Shape;278;p13"/>
          <p:cNvSpPr txBox="1">
            <a:spLocks noGrp="1"/>
          </p:cNvSpPr>
          <p:nvPr>
            <p:ph type="subTitle" idx="1"/>
          </p:nvPr>
        </p:nvSpPr>
        <p:spPr>
          <a:xfrm>
            <a:off x="824000" y="3596300"/>
            <a:ext cx="4255500" cy="695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In distributed systems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14"/>
          <p:cNvSpPr txBox="1">
            <a:spLocks noGrp="1"/>
          </p:cNvSpPr>
          <p:nvPr>
            <p:ph type="ctrTitle"/>
          </p:nvPr>
        </p:nvSpPr>
        <p:spPr>
          <a:xfrm>
            <a:off x="824000" y="1613813"/>
            <a:ext cx="4255500" cy="18729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a:t>“Every business is a software business”</a:t>
            </a:r>
            <a:endParaRPr/>
          </a:p>
        </p:txBody>
      </p:sp>
      <p:sp>
        <p:nvSpPr>
          <p:cNvPr id="284" name="Google Shape;284;p14"/>
          <p:cNvSpPr txBox="1">
            <a:spLocks noGrp="1"/>
          </p:cNvSpPr>
          <p:nvPr>
            <p:ph type="subTitle" idx="1"/>
          </p:nvPr>
        </p:nvSpPr>
        <p:spPr>
          <a:xfrm>
            <a:off x="824000" y="3596300"/>
            <a:ext cx="4255500" cy="695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15"/>
          <p:cNvSpPr txBox="1">
            <a:spLocks noGrp="1"/>
          </p:cNvSpPr>
          <p:nvPr>
            <p:ph type="ctrTitle"/>
          </p:nvPr>
        </p:nvSpPr>
        <p:spPr>
          <a:xfrm>
            <a:off x="824000" y="1613813"/>
            <a:ext cx="4255500" cy="18729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a:t>Who am I?</a:t>
            </a:r>
            <a:endParaRPr/>
          </a:p>
        </p:txBody>
      </p:sp>
      <p:sp>
        <p:nvSpPr>
          <p:cNvPr id="290" name="Google Shape;290;p15"/>
          <p:cNvSpPr txBox="1">
            <a:spLocks noGrp="1"/>
          </p:cNvSpPr>
          <p:nvPr>
            <p:ph type="subTitle" idx="1"/>
          </p:nvPr>
        </p:nvSpPr>
        <p:spPr>
          <a:xfrm>
            <a:off x="824000" y="3596300"/>
            <a:ext cx="4255500" cy="695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16"/>
          <p:cNvSpPr txBox="1">
            <a:spLocks noGrp="1"/>
          </p:cNvSpPr>
          <p:nvPr>
            <p:ph type="ctrTitle"/>
          </p:nvPr>
        </p:nvSpPr>
        <p:spPr>
          <a:xfrm>
            <a:off x="824000" y="1613813"/>
            <a:ext cx="4255500" cy="18729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a:t>What to expect</a:t>
            </a:r>
            <a:endParaRPr/>
          </a:p>
        </p:txBody>
      </p:sp>
      <p:sp>
        <p:nvSpPr>
          <p:cNvPr id="296" name="Google Shape;296;p16"/>
          <p:cNvSpPr txBox="1">
            <a:spLocks noGrp="1"/>
          </p:cNvSpPr>
          <p:nvPr>
            <p:ph type="subTitle" idx="1"/>
          </p:nvPr>
        </p:nvSpPr>
        <p:spPr>
          <a:xfrm>
            <a:off x="824000" y="3596300"/>
            <a:ext cx="4255500" cy="695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1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What to expect</a:t>
            </a:r>
            <a:endParaRPr/>
          </a:p>
        </p:txBody>
      </p:sp>
      <p:sp>
        <p:nvSpPr>
          <p:cNvPr id="302" name="Google Shape;302;p17"/>
          <p:cNvSpPr txBox="1">
            <a:spLocks noGrp="1"/>
          </p:cNvSpPr>
          <p:nvPr>
            <p:ph type="body" idx="1"/>
          </p:nvPr>
        </p:nvSpPr>
        <p:spPr>
          <a:xfrm>
            <a:off x="1303800" y="1990050"/>
            <a:ext cx="7030500" cy="2541600"/>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SzPts val="1300"/>
              <a:buChar char="●"/>
            </a:pPr>
            <a:r>
              <a:rPr lang="en"/>
              <a:t>Interactivity, feel free to speak up </a:t>
            </a:r>
            <a:endParaRPr/>
          </a:p>
          <a:p>
            <a:pPr marL="457200" lvl="0" indent="-311150" algn="l" rtl="0">
              <a:spcBef>
                <a:spcPts val="0"/>
              </a:spcBef>
              <a:spcAft>
                <a:spcPts val="0"/>
              </a:spcAft>
              <a:buSzPts val="1300"/>
              <a:buChar char="●"/>
            </a:pPr>
            <a:r>
              <a:rPr lang="en"/>
              <a:t>Terminology</a:t>
            </a:r>
            <a:endParaRPr/>
          </a:p>
          <a:p>
            <a:pPr marL="457200" lvl="0" indent="-311150" algn="l" rtl="0">
              <a:spcBef>
                <a:spcPts val="0"/>
              </a:spcBef>
              <a:spcAft>
                <a:spcPts val="0"/>
              </a:spcAft>
              <a:buSzPts val="1300"/>
              <a:buChar char="●"/>
            </a:pPr>
            <a:r>
              <a:rPr lang="en"/>
              <a:t>Technique</a:t>
            </a:r>
            <a:endParaRPr/>
          </a:p>
          <a:p>
            <a:pPr marL="457200" lvl="0" indent="-311150" algn="l" rtl="0">
              <a:spcBef>
                <a:spcPts val="0"/>
              </a:spcBef>
              <a:spcAft>
                <a:spcPts val="0"/>
              </a:spcAft>
              <a:buSzPts val="1300"/>
              <a:buChar char="●"/>
            </a:pPr>
            <a:r>
              <a:rPr lang="en"/>
              <a:t>Demo</a:t>
            </a:r>
            <a:endParaRPr/>
          </a:p>
          <a:p>
            <a:pPr marL="457200" lvl="0" indent="-311150" algn="l" rtl="0">
              <a:spcBef>
                <a:spcPts val="0"/>
              </a:spcBef>
              <a:spcAft>
                <a:spcPts val="0"/>
              </a:spcAft>
              <a:buSzPts val="1300"/>
              <a:buChar char="●"/>
            </a:pPr>
            <a:r>
              <a:rPr lang="en"/>
              <a:t>Share resources</a:t>
            </a:r>
            <a:endParaRPr/>
          </a:p>
        </p:txBody>
      </p:sp>
      <p:sp>
        <p:nvSpPr>
          <p:cNvPr id="303" name="Google Shape;303;p17"/>
          <p:cNvSpPr txBox="1"/>
          <p:nvPr/>
        </p:nvSpPr>
        <p:spPr>
          <a:xfrm>
            <a:off x="1648750" y="890325"/>
            <a:ext cx="25410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8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18"/>
          <p:cNvSpPr txBox="1">
            <a:spLocks noGrp="1"/>
          </p:cNvSpPr>
          <p:nvPr>
            <p:ph type="title"/>
          </p:nvPr>
        </p:nvSpPr>
        <p:spPr>
          <a:xfrm>
            <a:off x="824000" y="1613825"/>
            <a:ext cx="5857800" cy="18729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a:t>What is a distributed system?</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19"/>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Distributed Systems </a:t>
            </a:r>
            <a:endParaRPr/>
          </a:p>
        </p:txBody>
      </p:sp>
      <p:sp>
        <p:nvSpPr>
          <p:cNvPr id="314" name="Google Shape;314;p19"/>
          <p:cNvSpPr txBox="1">
            <a:spLocks noGrp="1"/>
          </p:cNvSpPr>
          <p:nvPr>
            <p:ph type="body" idx="1"/>
          </p:nvPr>
        </p:nvSpPr>
        <p:spPr>
          <a:xfrm>
            <a:off x="1303800" y="1990050"/>
            <a:ext cx="7030500" cy="2541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Distributed computing is a field of computer science that studies distributed systems, defined as computer systems whose inter-communicating components are located on different networked computers.</a:t>
            </a:r>
            <a:endParaRPr/>
          </a:p>
          <a:p>
            <a:pPr marL="0" lvl="0" indent="0" algn="l" rtl="0">
              <a:spcBef>
                <a:spcPts val="1200"/>
              </a:spcBef>
              <a:spcAft>
                <a:spcPts val="0"/>
              </a:spcAft>
              <a:buNone/>
            </a:pPr>
            <a:r>
              <a:rPr lang="en"/>
              <a:t>The components of a distributed system communicate and coordinate their actions by passing messages to one another in order to achieve a common goal.</a:t>
            </a:r>
            <a:endParaRPr/>
          </a:p>
          <a:p>
            <a:pPr marL="0" lvl="0" indent="0" algn="l" rtl="0">
              <a:spcBef>
                <a:spcPts val="1200"/>
              </a:spcBef>
              <a:spcAft>
                <a:spcPts val="0"/>
              </a:spcAft>
              <a:buNone/>
            </a:pPr>
            <a:endParaRPr/>
          </a:p>
          <a:p>
            <a:pPr marL="457200" lvl="0" indent="-311150" algn="l" rtl="0">
              <a:spcBef>
                <a:spcPts val="1200"/>
              </a:spcBef>
              <a:spcAft>
                <a:spcPts val="0"/>
              </a:spcAft>
              <a:buSzPts val="1300"/>
              <a:buChar char="-"/>
            </a:pPr>
            <a:r>
              <a:rPr lang="en"/>
              <a:t>https://en.m.wikipedia.org/wiki/Distributed_computing</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20"/>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Why build distributed systems </a:t>
            </a:r>
            <a:endParaRPr/>
          </a:p>
        </p:txBody>
      </p:sp>
      <p:sp>
        <p:nvSpPr>
          <p:cNvPr id="320" name="Google Shape;320;p20"/>
          <p:cNvSpPr txBox="1">
            <a:spLocks noGrp="1"/>
          </p:cNvSpPr>
          <p:nvPr>
            <p:ph type="body" idx="1"/>
          </p:nvPr>
        </p:nvSpPr>
        <p:spPr>
          <a:xfrm>
            <a:off x="1303800" y="1990050"/>
            <a:ext cx="7030500" cy="2541600"/>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SzPts val="1300"/>
              <a:buChar char="●"/>
            </a:pPr>
            <a:r>
              <a:rPr lang="en"/>
              <a:t>Partitioning / Modularity</a:t>
            </a:r>
            <a:endParaRPr/>
          </a:p>
          <a:p>
            <a:pPr marL="457200" lvl="0" indent="-311150" algn="l" rtl="0">
              <a:spcBef>
                <a:spcPts val="0"/>
              </a:spcBef>
              <a:spcAft>
                <a:spcPts val="0"/>
              </a:spcAft>
              <a:buSzPts val="1300"/>
              <a:buChar char="●"/>
            </a:pPr>
            <a:r>
              <a:rPr lang="en"/>
              <a:t>Scalability</a:t>
            </a:r>
            <a:endParaRPr/>
          </a:p>
          <a:p>
            <a:pPr marL="457200" lvl="0" indent="-311150" algn="l" rtl="0">
              <a:spcBef>
                <a:spcPts val="0"/>
              </a:spcBef>
              <a:spcAft>
                <a:spcPts val="0"/>
              </a:spcAft>
              <a:buSzPts val="1300"/>
              <a:buChar char="●"/>
            </a:pPr>
            <a:r>
              <a:rPr lang="en"/>
              <a:t>Reliability</a:t>
            </a:r>
            <a:endParaRPr/>
          </a:p>
          <a:p>
            <a:pPr marL="457200" lvl="0" indent="-311150" algn="l" rtl="0">
              <a:spcBef>
                <a:spcPts val="0"/>
              </a:spcBef>
              <a:spcAft>
                <a:spcPts val="0"/>
              </a:spcAft>
              <a:buSzPts val="1300"/>
              <a:buChar char="●"/>
            </a:pPr>
            <a:r>
              <a:rPr lang="en"/>
              <a:t>Maintainability</a:t>
            </a:r>
            <a:endParaRPr/>
          </a:p>
          <a:p>
            <a:pPr marL="457200" lvl="0" indent="-311150" algn="l" rtl="0">
              <a:spcBef>
                <a:spcPts val="0"/>
              </a:spcBef>
              <a:spcAft>
                <a:spcPts val="0"/>
              </a:spcAft>
              <a:buSzPts val="1300"/>
              <a:buChar char="●"/>
            </a:pPr>
            <a:r>
              <a:rPr lang="en"/>
              <a:t>Fault tolerance</a:t>
            </a:r>
            <a:endParaRPr/>
          </a:p>
          <a:p>
            <a:pPr marL="457200" lvl="0" indent="-311150" algn="l" rtl="0">
              <a:spcBef>
                <a:spcPts val="0"/>
              </a:spcBef>
              <a:spcAft>
                <a:spcPts val="0"/>
              </a:spcAft>
              <a:buSzPts val="1300"/>
              <a:buChar char="●"/>
            </a:pPr>
            <a:r>
              <a:rPr lang="en"/>
              <a:t>Security</a:t>
            </a:r>
            <a:endParaRPr/>
          </a:p>
          <a:p>
            <a:pPr marL="457200" lvl="0" indent="-311150" algn="l" rtl="0">
              <a:spcBef>
                <a:spcPts val="0"/>
              </a:spcBef>
              <a:spcAft>
                <a:spcPts val="0"/>
              </a:spcAft>
              <a:buSzPts val="1300"/>
              <a:buChar char="●"/>
            </a:pPr>
            <a:r>
              <a:rPr lang="en"/>
              <a:t>Consistency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21"/>
          <p:cNvSpPr txBox="1">
            <a:spLocks noGrp="1"/>
          </p:cNvSpPr>
          <p:nvPr>
            <p:ph type="title"/>
          </p:nvPr>
        </p:nvSpPr>
        <p:spPr>
          <a:xfrm>
            <a:off x="824000" y="1613825"/>
            <a:ext cx="5857800" cy="18729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a:t>What is a service?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22"/>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Service </a:t>
            </a:r>
            <a:endParaRPr/>
          </a:p>
        </p:txBody>
      </p:sp>
      <p:sp>
        <p:nvSpPr>
          <p:cNvPr id="331" name="Google Shape;331;p22"/>
          <p:cNvSpPr txBox="1">
            <a:spLocks noGrp="1"/>
          </p:cNvSpPr>
          <p:nvPr>
            <p:ph type="body" idx="1"/>
          </p:nvPr>
        </p:nvSpPr>
        <p:spPr>
          <a:xfrm>
            <a:off x="311689" y="1129801"/>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a:p>
            <a:pPr marL="0" lvl="0" indent="0" algn="l" rtl="0">
              <a:spcBef>
                <a:spcPts val="1200"/>
              </a:spcBef>
              <a:spcAft>
                <a:spcPts val="0"/>
              </a:spcAft>
              <a:buNone/>
            </a:pPr>
            <a:r>
              <a:rPr lang="en"/>
              <a:t>A technical authority for a given business capability.</a:t>
            </a:r>
            <a:endParaRPr/>
          </a:p>
          <a:p>
            <a:pPr marL="0" lvl="0" indent="0" algn="l" rtl="0">
              <a:spcBef>
                <a:spcPts val="1200"/>
              </a:spcBef>
              <a:spcAft>
                <a:spcPts val="0"/>
              </a:spcAft>
              <a:buNone/>
            </a:pPr>
            <a:r>
              <a:rPr lang="en"/>
              <a:t>All data and rules reside within the service.</a:t>
            </a:r>
            <a:endParaRPr/>
          </a:p>
          <a:p>
            <a:pPr marL="0" lvl="0" indent="0" algn="l" rtl="0">
              <a:spcBef>
                <a:spcPts val="1200"/>
              </a:spcBef>
              <a:spcAft>
                <a:spcPts val="0"/>
              </a:spcAft>
              <a:buNone/>
            </a:pPr>
            <a:endParaRPr/>
          </a:p>
          <a:p>
            <a:pPr marL="0" lvl="0" indent="0" algn="l" rtl="0">
              <a:spcBef>
                <a:spcPts val="1200"/>
              </a:spcBef>
              <a:spcAft>
                <a:spcPts val="1200"/>
              </a:spcAft>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23"/>
          <p:cNvSpPr txBox="1">
            <a:spLocks noGrp="1"/>
          </p:cNvSpPr>
          <p:nvPr>
            <p:ph type="title"/>
          </p:nvPr>
        </p:nvSpPr>
        <p:spPr>
          <a:xfrm>
            <a:off x="824000" y="1613825"/>
            <a:ext cx="5857800" cy="18729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a:t>What is a service boundary?</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2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Service Boundary </a:t>
            </a:r>
            <a:endParaRPr/>
          </a:p>
        </p:txBody>
      </p:sp>
      <p:sp>
        <p:nvSpPr>
          <p:cNvPr id="342" name="Google Shape;342;p24"/>
          <p:cNvSpPr txBox="1">
            <a:spLocks noGrp="1"/>
          </p:cNvSpPr>
          <p:nvPr>
            <p:ph type="body" idx="1"/>
          </p:nvPr>
        </p:nvSpPr>
        <p:spPr>
          <a:xfrm>
            <a:off x="1303800" y="1990050"/>
            <a:ext cx="7030500" cy="2541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800">
                <a:highlight>
                  <a:schemeClr val="lt1"/>
                </a:highlight>
              </a:rPr>
              <a:t>A Service Boundary refers to the scope and limits of a service, separating the functionality and data contained within the service from that which is external to it.</a:t>
            </a:r>
            <a:endParaRPr sz="1800" dirty="0">
              <a:highlight>
                <a:schemeClr val="lt1"/>
              </a:highlight>
            </a:endParaRPr>
          </a:p>
          <a:p>
            <a:pPr marL="0" lvl="0" indent="0" algn="l" rtl="0">
              <a:spcBef>
                <a:spcPts val="1200"/>
              </a:spcBef>
              <a:spcAft>
                <a:spcPts val="1200"/>
              </a:spcAft>
              <a:buNone/>
            </a:pPr>
            <a:r>
              <a:rPr lang="en" sz="1800" dirty="0">
                <a:highlight>
                  <a:schemeClr val="lt1"/>
                </a:highlight>
              </a:rPr>
              <a:t>Each service will contain its own independent data and functionality. This information is not shared with other services. </a:t>
            </a:r>
            <a:endParaRPr sz="1800" dirty="0">
              <a:highlight>
                <a:schemeClr val="lt1"/>
              </a:high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25"/>
          <p:cNvSpPr txBox="1">
            <a:spLocks noGrp="1"/>
          </p:cNvSpPr>
          <p:nvPr>
            <p:ph type="title"/>
          </p:nvPr>
        </p:nvSpPr>
        <p:spPr>
          <a:xfrm>
            <a:off x="311700" y="2150850"/>
            <a:ext cx="8727000" cy="1320000"/>
          </a:xfrm>
          <a:prstGeom prst="rect">
            <a:avLst/>
          </a:prstGeom>
        </p:spPr>
        <p:txBody>
          <a:bodyPr spcFirstLastPara="1" wrap="square" lIns="91425" tIns="91425" rIns="91425" bIns="91425" anchor="ctr" anchorCtr="0">
            <a:normAutofit fontScale="90000"/>
          </a:bodyPr>
          <a:lstStyle/>
          <a:p>
            <a:pPr marL="0" lvl="0" indent="0" algn="l" rtl="0">
              <a:spcBef>
                <a:spcPts val="0"/>
              </a:spcBef>
              <a:spcAft>
                <a:spcPts val="0"/>
              </a:spcAft>
              <a:buClr>
                <a:schemeClr val="dk1"/>
              </a:buClr>
              <a:buSzPts val="990"/>
              <a:buFont typeface="Arial"/>
              <a:buNone/>
            </a:pPr>
            <a:r>
              <a:rPr lang="en" sz="5200"/>
              <a:t>How to find a Service Boundary?</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pic>
        <p:nvPicPr>
          <p:cNvPr id="352" name="Google Shape;352;p26"/>
          <p:cNvPicPr preferRelativeResize="0"/>
          <p:nvPr/>
        </p:nvPicPr>
        <p:blipFill>
          <a:blip r:embed="rId3">
            <a:alphaModFix/>
          </a:blip>
          <a:stretch>
            <a:fillRect/>
          </a:stretch>
        </p:blipFill>
        <p:spPr>
          <a:xfrm>
            <a:off x="1" y="35225"/>
            <a:ext cx="4848151" cy="5376901"/>
          </a:xfrm>
          <a:prstGeom prst="rect">
            <a:avLst/>
          </a:prstGeom>
          <a:noFill/>
          <a:ln>
            <a:noFill/>
          </a:ln>
        </p:spPr>
      </p:pic>
      <p:sp>
        <p:nvSpPr>
          <p:cNvPr id="353" name="Google Shape;353;p26"/>
          <p:cNvSpPr txBox="1"/>
          <p:nvPr/>
        </p:nvSpPr>
        <p:spPr>
          <a:xfrm>
            <a:off x="5037425" y="167500"/>
            <a:ext cx="29130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2"/>
                </a:solidFill>
              </a:rPr>
              <a:t>What data do you see on this page?</a:t>
            </a:r>
            <a:endParaRPr sz="1800">
              <a:solidFill>
                <a:schemeClr val="dk2"/>
              </a:solidFill>
            </a:endParaRPr>
          </a:p>
        </p:txBody>
      </p:sp>
      <p:sp>
        <p:nvSpPr>
          <p:cNvPr id="354" name="Google Shape;354;p26"/>
          <p:cNvSpPr txBox="1"/>
          <p:nvPr/>
        </p:nvSpPr>
        <p:spPr>
          <a:xfrm>
            <a:off x="5128650" y="842000"/>
            <a:ext cx="2913000" cy="24027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2"/>
              </a:buClr>
              <a:buSzPts val="1800"/>
              <a:buChar char="●"/>
            </a:pPr>
            <a:r>
              <a:rPr lang="en" sz="1800">
                <a:solidFill>
                  <a:schemeClr val="dk2"/>
                </a:solidFill>
              </a:rPr>
              <a:t>Name</a:t>
            </a:r>
            <a:endParaRPr sz="1800">
              <a:solidFill>
                <a:schemeClr val="dk2"/>
              </a:solidFill>
            </a:endParaRPr>
          </a:p>
          <a:p>
            <a:pPr marL="457200" lvl="0" indent="-342900" algn="l" rtl="0">
              <a:spcBef>
                <a:spcPts val="0"/>
              </a:spcBef>
              <a:spcAft>
                <a:spcPts val="0"/>
              </a:spcAft>
              <a:buClr>
                <a:schemeClr val="dk2"/>
              </a:buClr>
              <a:buSzPts val="1800"/>
              <a:buChar char="●"/>
            </a:pPr>
            <a:r>
              <a:rPr lang="en" sz="1800">
                <a:solidFill>
                  <a:schemeClr val="dk2"/>
                </a:solidFill>
              </a:rPr>
              <a:t>Product details</a:t>
            </a:r>
            <a:endParaRPr sz="1800">
              <a:solidFill>
                <a:schemeClr val="dk2"/>
              </a:solidFill>
            </a:endParaRPr>
          </a:p>
          <a:p>
            <a:pPr marL="457200" lvl="0" indent="-342900" algn="l" rtl="0">
              <a:spcBef>
                <a:spcPts val="0"/>
              </a:spcBef>
              <a:spcAft>
                <a:spcPts val="0"/>
              </a:spcAft>
              <a:buClr>
                <a:schemeClr val="dk2"/>
              </a:buClr>
              <a:buSzPts val="1800"/>
              <a:buChar char="●"/>
            </a:pPr>
            <a:r>
              <a:rPr lang="en" sz="1800">
                <a:solidFill>
                  <a:schemeClr val="dk2"/>
                </a:solidFill>
              </a:rPr>
              <a:t>Price</a:t>
            </a:r>
            <a:endParaRPr sz="1800">
              <a:solidFill>
                <a:schemeClr val="dk2"/>
              </a:solidFill>
            </a:endParaRPr>
          </a:p>
          <a:p>
            <a:pPr marL="457200" lvl="0" indent="-342900" algn="l" rtl="0">
              <a:spcBef>
                <a:spcPts val="0"/>
              </a:spcBef>
              <a:spcAft>
                <a:spcPts val="0"/>
              </a:spcAft>
              <a:buClr>
                <a:schemeClr val="dk2"/>
              </a:buClr>
              <a:buSzPts val="1800"/>
              <a:buChar char="●"/>
            </a:pPr>
            <a:r>
              <a:rPr lang="en" sz="1800">
                <a:solidFill>
                  <a:schemeClr val="dk2"/>
                </a:solidFill>
              </a:rPr>
              <a:t>Inventory availability</a:t>
            </a:r>
            <a:endParaRPr sz="1800">
              <a:solidFill>
                <a:schemeClr val="dk2"/>
              </a:solidFill>
            </a:endParaRPr>
          </a:p>
          <a:p>
            <a:pPr marL="457200" lvl="0" indent="-342900" algn="l" rtl="0">
              <a:spcBef>
                <a:spcPts val="0"/>
              </a:spcBef>
              <a:spcAft>
                <a:spcPts val="0"/>
              </a:spcAft>
              <a:buClr>
                <a:schemeClr val="dk2"/>
              </a:buClr>
              <a:buSzPts val="1800"/>
              <a:buChar char="●"/>
            </a:pPr>
            <a:r>
              <a:rPr lang="en" sz="1800">
                <a:solidFill>
                  <a:schemeClr val="dk2"/>
                </a:solidFill>
              </a:rPr>
              <a:t>Reviews</a:t>
            </a:r>
            <a:endParaRPr sz="1800">
              <a:solidFill>
                <a:schemeClr val="dk2"/>
              </a:solidFill>
            </a:endParaRPr>
          </a:p>
          <a:p>
            <a:pPr marL="457200" lvl="0" indent="-342900" algn="l" rtl="0">
              <a:spcBef>
                <a:spcPts val="0"/>
              </a:spcBef>
              <a:spcAft>
                <a:spcPts val="0"/>
              </a:spcAft>
              <a:buClr>
                <a:schemeClr val="dk2"/>
              </a:buClr>
              <a:buSzPts val="1800"/>
              <a:buChar char="●"/>
            </a:pPr>
            <a:r>
              <a:rPr lang="en" sz="1800">
                <a:solidFill>
                  <a:schemeClr val="dk2"/>
                </a:solidFill>
              </a:rPr>
              <a:t>Recommendations</a:t>
            </a:r>
            <a:endParaRPr sz="1800">
              <a:solidFill>
                <a:schemeClr val="dk2"/>
              </a:solidFill>
            </a:endParaRPr>
          </a:p>
          <a:p>
            <a:pPr marL="457200" lvl="0" indent="-342900" algn="l" rtl="0">
              <a:spcBef>
                <a:spcPts val="0"/>
              </a:spcBef>
              <a:spcAft>
                <a:spcPts val="0"/>
              </a:spcAft>
              <a:buClr>
                <a:schemeClr val="dk2"/>
              </a:buClr>
              <a:buSzPts val="1800"/>
              <a:buChar char="●"/>
            </a:pPr>
            <a:r>
              <a:rPr lang="en" sz="1800">
                <a:solidFill>
                  <a:schemeClr val="dk2"/>
                </a:solidFill>
              </a:rPr>
              <a:t>Shipping estimates/options</a:t>
            </a:r>
            <a:endParaRPr sz="1800">
              <a:solidFill>
                <a:schemeClr val="dk2"/>
              </a:solidFill>
            </a:endParaRPr>
          </a:p>
          <a:p>
            <a:pPr marL="0" lvl="0" indent="0" algn="l" rtl="0">
              <a:spcBef>
                <a:spcPts val="0"/>
              </a:spcBef>
              <a:spcAft>
                <a:spcPts val="0"/>
              </a:spcAft>
              <a:buNone/>
            </a:pPr>
            <a:endParaRPr sz="1800">
              <a:solidFill>
                <a:schemeClr val="dk2"/>
              </a:solidFill>
            </a:endParaRPr>
          </a:p>
        </p:txBody>
      </p:sp>
      <p:sp>
        <p:nvSpPr>
          <p:cNvPr id="355" name="Google Shape;355;p26"/>
          <p:cNvSpPr txBox="1"/>
          <p:nvPr/>
        </p:nvSpPr>
        <p:spPr>
          <a:xfrm>
            <a:off x="4996900" y="3315000"/>
            <a:ext cx="2913000" cy="1015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2"/>
                </a:solidFill>
              </a:rPr>
              <a:t>How many services are involved to render this page?</a:t>
            </a:r>
            <a:endParaRPr sz="1800">
              <a:solidFill>
                <a:schemeClr val="dk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2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Service - a neat trick</a:t>
            </a:r>
            <a:endParaRPr/>
          </a:p>
        </p:txBody>
      </p:sp>
      <p:sp>
        <p:nvSpPr>
          <p:cNvPr id="361" name="Google Shape;361;p27"/>
          <p:cNvSpPr txBox="1">
            <a:spLocks noGrp="1"/>
          </p:cNvSpPr>
          <p:nvPr>
            <p:ph type="body" idx="1"/>
          </p:nvPr>
        </p:nvSpPr>
        <p:spPr>
          <a:xfrm>
            <a:off x="311689" y="1171451"/>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a:p>
            <a:pPr marL="0" lvl="0" indent="0" algn="l" rtl="0">
              <a:spcBef>
                <a:spcPts val="1200"/>
              </a:spcBef>
              <a:spcAft>
                <a:spcPts val="0"/>
              </a:spcAft>
              <a:buNone/>
            </a:pPr>
            <a:r>
              <a:rPr lang="en" sz="1700"/>
              <a:t>A technical authority for a given business capability.</a:t>
            </a:r>
            <a:endParaRPr sz="1700"/>
          </a:p>
          <a:p>
            <a:pPr marL="0" lvl="0" indent="0" algn="l" rtl="0">
              <a:spcBef>
                <a:spcPts val="1200"/>
              </a:spcBef>
              <a:spcAft>
                <a:spcPts val="0"/>
              </a:spcAft>
              <a:buNone/>
            </a:pPr>
            <a:r>
              <a:rPr lang="en" sz="1600"/>
              <a:t>All </a:t>
            </a:r>
            <a:r>
              <a:rPr lang="en" sz="3500" b="1"/>
              <a:t>data</a:t>
            </a:r>
            <a:r>
              <a:rPr lang="en" sz="1600"/>
              <a:t> and </a:t>
            </a:r>
            <a:r>
              <a:rPr lang="en" sz="3300" b="1"/>
              <a:t>rules</a:t>
            </a:r>
            <a:r>
              <a:rPr lang="en" sz="1600"/>
              <a:t> reside within the service.</a:t>
            </a:r>
            <a:endParaRPr sz="1600"/>
          </a:p>
          <a:p>
            <a:pPr marL="0" lvl="0" indent="0" algn="l" rtl="0">
              <a:spcBef>
                <a:spcPts val="1200"/>
              </a:spcBef>
              <a:spcAft>
                <a:spcPts val="0"/>
              </a:spcAft>
              <a:buNone/>
            </a:pPr>
            <a:endParaRPr/>
          </a:p>
          <a:p>
            <a:pPr marL="0" lvl="0" indent="0" algn="l" rtl="0">
              <a:spcBef>
                <a:spcPts val="1200"/>
              </a:spcBef>
              <a:spcAft>
                <a:spcPts val="1200"/>
              </a:spcAft>
              <a:buNone/>
            </a:pP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28"/>
          <p:cNvSpPr txBox="1">
            <a:spLocks noGrp="1"/>
          </p:cNvSpPr>
          <p:nvPr>
            <p:ph type="title"/>
          </p:nvPr>
        </p:nvSpPr>
        <p:spPr>
          <a:xfrm>
            <a:off x="824000" y="1613825"/>
            <a:ext cx="5857800" cy="18729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a:t>Demo</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29"/>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Distributed Systems </a:t>
            </a:r>
            <a:endParaRPr/>
          </a:p>
        </p:txBody>
      </p:sp>
      <p:sp>
        <p:nvSpPr>
          <p:cNvPr id="372" name="Google Shape;372;p29"/>
          <p:cNvSpPr txBox="1">
            <a:spLocks noGrp="1"/>
          </p:cNvSpPr>
          <p:nvPr>
            <p:ph type="body" idx="1"/>
          </p:nvPr>
        </p:nvSpPr>
        <p:spPr>
          <a:xfrm>
            <a:off x="1303800" y="1990050"/>
            <a:ext cx="7030500" cy="2541600"/>
          </a:xfrm>
          <a:prstGeom prst="rect">
            <a:avLst/>
          </a:prstGeom>
        </p:spPr>
        <p:txBody>
          <a:bodyPr spcFirstLastPara="1" wrap="square" lIns="91425" tIns="91425" rIns="91425" bIns="91425" anchor="t" anchorCtr="0">
            <a:normAutofit fontScale="92500" lnSpcReduction="10000"/>
          </a:bodyPr>
          <a:lstStyle/>
          <a:p>
            <a:pPr marL="0" lvl="0" indent="0" algn="l" rtl="0">
              <a:spcBef>
                <a:spcPts val="0"/>
              </a:spcBef>
              <a:spcAft>
                <a:spcPts val="0"/>
              </a:spcAft>
              <a:buNone/>
            </a:pPr>
            <a:r>
              <a:rPr lang="en" sz="1600"/>
              <a:t>Distributed computing is a field of computer science that studies distributed systems, defined as computer systems whose inter-communicating components are located on different networked computers.</a:t>
            </a:r>
            <a:endParaRPr sz="1600"/>
          </a:p>
          <a:p>
            <a:pPr marL="0" lvl="0" indent="0" algn="l" rtl="0">
              <a:spcBef>
                <a:spcPts val="1200"/>
              </a:spcBef>
              <a:spcAft>
                <a:spcPts val="0"/>
              </a:spcAft>
              <a:buNone/>
            </a:pPr>
            <a:r>
              <a:rPr lang="en" sz="2100" b="1" i="1"/>
              <a:t>The components of a distributed system communicate and coordinate their actions by PASSING MESSAGES to one another in order to achieve a common goal.</a:t>
            </a:r>
            <a:endParaRPr sz="2100" b="1"/>
          </a:p>
          <a:p>
            <a:pPr marL="457200" lvl="0" indent="-335756" algn="l" rtl="0">
              <a:spcBef>
                <a:spcPts val="1200"/>
              </a:spcBef>
              <a:spcAft>
                <a:spcPts val="0"/>
              </a:spcAft>
              <a:buSzPct val="100000"/>
              <a:buChar char="-"/>
            </a:pPr>
            <a:r>
              <a:rPr lang="en" sz="1824"/>
              <a:t>https://en.m.wikipedia.org/wiki/Distributed_computing</a:t>
            </a:r>
            <a:endParaRPr sz="1824"/>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30"/>
          <p:cNvSpPr txBox="1">
            <a:spLocks noGrp="1"/>
          </p:cNvSpPr>
          <p:nvPr>
            <p:ph type="title"/>
          </p:nvPr>
        </p:nvSpPr>
        <p:spPr>
          <a:xfrm>
            <a:off x="824000" y="1613825"/>
            <a:ext cx="5857800" cy="18729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a:t>Demo - Yes really this time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pic>
        <p:nvPicPr>
          <p:cNvPr id="382" name="Google Shape;382;p31"/>
          <p:cNvPicPr preferRelativeResize="0"/>
          <p:nvPr/>
        </p:nvPicPr>
        <p:blipFill>
          <a:blip r:embed="rId3">
            <a:alphaModFix/>
          </a:blip>
          <a:stretch>
            <a:fillRect/>
          </a:stretch>
        </p:blipFill>
        <p:spPr>
          <a:xfrm>
            <a:off x="199350" y="152400"/>
            <a:ext cx="2437960" cy="4838699"/>
          </a:xfrm>
          <a:prstGeom prst="rect">
            <a:avLst/>
          </a:prstGeom>
          <a:noFill/>
          <a:ln>
            <a:noFill/>
          </a:ln>
        </p:spPr>
      </p:pic>
      <p:pic>
        <p:nvPicPr>
          <p:cNvPr id="383" name="Google Shape;383;p31"/>
          <p:cNvPicPr preferRelativeResize="0"/>
          <p:nvPr/>
        </p:nvPicPr>
        <p:blipFill rotWithShape="1">
          <a:blip r:embed="rId4">
            <a:alphaModFix/>
          </a:blip>
          <a:srcRect l="3730" r="-3729"/>
          <a:stretch/>
        </p:blipFill>
        <p:spPr>
          <a:xfrm>
            <a:off x="2848185" y="1171463"/>
            <a:ext cx="6295816" cy="3105369"/>
          </a:xfrm>
          <a:prstGeom prst="rect">
            <a:avLst/>
          </a:prstGeom>
          <a:noFill/>
          <a:ln>
            <a:noFill/>
          </a:ln>
        </p:spPr>
      </p:pic>
      <p:sp>
        <p:nvSpPr>
          <p:cNvPr id="384" name="Google Shape;384;p31"/>
          <p:cNvSpPr txBox="1"/>
          <p:nvPr/>
        </p:nvSpPr>
        <p:spPr>
          <a:xfrm>
            <a:off x="2848175" y="267725"/>
            <a:ext cx="55851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lt1"/>
                </a:solidFill>
                <a:latin typeface="Nunito"/>
                <a:ea typeface="Nunito"/>
                <a:cs typeface="Nunito"/>
                <a:sym typeface="Nunito"/>
              </a:rPr>
              <a:t>Workflow</a:t>
            </a:r>
            <a:endParaRPr sz="2300">
              <a:solidFill>
                <a:schemeClr val="lt1"/>
              </a:solidFill>
              <a:latin typeface="Nunito"/>
              <a:ea typeface="Nunito"/>
              <a:cs typeface="Nunito"/>
              <a:sym typeface="Nunito"/>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pic>
        <p:nvPicPr>
          <p:cNvPr id="389" name="Google Shape;389;p32"/>
          <p:cNvPicPr preferRelativeResize="0"/>
          <p:nvPr/>
        </p:nvPicPr>
        <p:blipFill>
          <a:blip r:embed="rId3">
            <a:alphaModFix/>
          </a:blip>
          <a:stretch>
            <a:fillRect/>
          </a:stretch>
        </p:blipFill>
        <p:spPr>
          <a:xfrm>
            <a:off x="152400" y="1186750"/>
            <a:ext cx="8839201" cy="3521594"/>
          </a:xfrm>
          <a:prstGeom prst="rect">
            <a:avLst/>
          </a:prstGeom>
          <a:noFill/>
          <a:ln>
            <a:noFill/>
          </a:ln>
        </p:spPr>
      </p:pic>
      <p:sp>
        <p:nvSpPr>
          <p:cNvPr id="390" name="Google Shape;390;p32"/>
          <p:cNvSpPr txBox="1"/>
          <p:nvPr/>
        </p:nvSpPr>
        <p:spPr>
          <a:xfrm>
            <a:off x="357000" y="244250"/>
            <a:ext cx="81216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lt1"/>
                </a:solidFill>
                <a:latin typeface="Nunito"/>
                <a:ea typeface="Nunito"/>
                <a:cs typeface="Nunito"/>
                <a:sym typeface="Nunito"/>
              </a:rPr>
              <a:t>When to ship the order</a:t>
            </a:r>
            <a:endParaRPr sz="1800">
              <a:solidFill>
                <a:schemeClr val="lt1"/>
              </a:solidFill>
              <a:latin typeface="Nunito"/>
              <a:ea typeface="Nunito"/>
              <a:cs typeface="Nunito"/>
              <a:sym typeface="Nunito"/>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33"/>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Additional Resources</a:t>
            </a:r>
            <a:endParaRPr/>
          </a:p>
        </p:txBody>
      </p:sp>
      <p:sp>
        <p:nvSpPr>
          <p:cNvPr id="396" name="Google Shape;396;p33"/>
          <p:cNvSpPr txBox="1">
            <a:spLocks noGrp="1"/>
          </p:cNvSpPr>
          <p:nvPr>
            <p:ph type="body" idx="1"/>
          </p:nvPr>
        </p:nvSpPr>
        <p:spPr>
          <a:xfrm>
            <a:off x="1303800" y="1990050"/>
            <a:ext cx="7030500" cy="25416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sz="1600"/>
              <a:t>Slides, longer versions of this talk and other resources can be found by visiting this link</a:t>
            </a:r>
            <a:endParaRPr sz="1600"/>
          </a:p>
        </p:txBody>
      </p:sp>
      <p:pic>
        <p:nvPicPr>
          <p:cNvPr id="397" name="Google Shape;397;p33"/>
          <p:cNvPicPr preferRelativeResize="0"/>
          <p:nvPr/>
        </p:nvPicPr>
        <p:blipFill>
          <a:blip r:embed="rId3">
            <a:alphaModFix/>
          </a:blip>
          <a:stretch>
            <a:fillRect/>
          </a:stretch>
        </p:blipFill>
        <p:spPr>
          <a:xfrm>
            <a:off x="3619500" y="2592575"/>
            <a:ext cx="1905000" cy="1905000"/>
          </a:xfrm>
          <a:prstGeom prst="rect">
            <a:avLst/>
          </a:prstGeom>
          <a:noFill/>
          <a:ln>
            <a:noFill/>
          </a:ln>
        </p:spPr>
      </p:pic>
    </p:spTree>
  </p:cSld>
  <p:clrMapOvr>
    <a:masterClrMapping/>
  </p:clrMapOvr>
</p:sld>
</file>

<file path=ppt/theme/theme1.xml><?xml version="1.0" encoding="utf-8"?>
<a:theme xmlns:a="http://schemas.openxmlformats.org/drawingml/2006/main"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TotalTime>
  <Words>1796</Words>
  <Application>Microsoft Office PowerPoint</Application>
  <PresentationFormat>On-screen Show (16:9)</PresentationFormat>
  <Paragraphs>148</Paragraphs>
  <Slides>21</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Nunito</vt:lpstr>
      <vt:lpstr>Maven Pro</vt:lpstr>
      <vt:lpstr>Arial</vt:lpstr>
      <vt:lpstr>Momentum</vt:lpstr>
      <vt:lpstr>Finding Service Boundaries </vt:lpstr>
      <vt:lpstr>“Every business is a software business”</vt:lpstr>
      <vt:lpstr>Who am I?</vt:lpstr>
      <vt:lpstr>What to expect</vt:lpstr>
      <vt:lpstr>What to expect</vt:lpstr>
      <vt:lpstr>What is a distributed system?</vt:lpstr>
      <vt:lpstr>Distributed Systems </vt:lpstr>
      <vt:lpstr>Why build distributed systems </vt:lpstr>
      <vt:lpstr>What is a service?</vt:lpstr>
      <vt:lpstr>Service </vt:lpstr>
      <vt:lpstr>What is a service boundary?</vt:lpstr>
      <vt:lpstr>Service Boundary </vt:lpstr>
      <vt:lpstr>How to find a Service Boundary?</vt:lpstr>
      <vt:lpstr>PowerPoint Presentation</vt:lpstr>
      <vt:lpstr>Service - a neat trick</vt:lpstr>
      <vt:lpstr>Demo</vt:lpstr>
      <vt:lpstr>Distributed Systems </vt:lpstr>
      <vt:lpstr>Demo - Yes really this time</vt:lpstr>
      <vt:lpstr>PowerPoint Presentation</vt:lpstr>
      <vt:lpstr>PowerPoint Presentation</vt:lpstr>
      <vt:lpstr>Additional Resources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Adam Wright</cp:lastModifiedBy>
  <cp:revision>3</cp:revision>
  <dcterms:modified xsi:type="dcterms:W3CDTF">2025-09-09T13:24:03Z</dcterms:modified>
</cp:coreProperties>
</file>